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34"/>
  </p:notesMasterIdLst>
  <p:sldIdLst>
    <p:sldId id="256" r:id="rId2"/>
    <p:sldId id="308" r:id="rId3"/>
    <p:sldId id="276" r:id="rId4"/>
    <p:sldId id="315" r:id="rId5"/>
    <p:sldId id="316" r:id="rId6"/>
    <p:sldId id="268" r:id="rId7"/>
    <p:sldId id="310" r:id="rId8"/>
    <p:sldId id="312" r:id="rId9"/>
    <p:sldId id="311" r:id="rId10"/>
    <p:sldId id="313" r:id="rId11"/>
    <p:sldId id="314" r:id="rId12"/>
    <p:sldId id="309" r:id="rId13"/>
    <p:sldId id="272" r:id="rId14"/>
    <p:sldId id="270" r:id="rId15"/>
    <p:sldId id="274" r:id="rId16"/>
    <p:sldId id="278" r:id="rId17"/>
    <p:sldId id="280" r:id="rId18"/>
    <p:sldId id="283" r:id="rId19"/>
    <p:sldId id="284" r:id="rId20"/>
    <p:sldId id="317" r:id="rId21"/>
    <p:sldId id="318" r:id="rId22"/>
    <p:sldId id="286" r:id="rId23"/>
    <p:sldId id="320" r:id="rId24"/>
    <p:sldId id="289" r:id="rId25"/>
    <p:sldId id="290" r:id="rId26"/>
    <p:sldId id="291" r:id="rId27"/>
    <p:sldId id="292" r:id="rId28"/>
    <p:sldId id="295" r:id="rId29"/>
    <p:sldId id="296" r:id="rId30"/>
    <p:sldId id="293" r:id="rId31"/>
    <p:sldId id="297" r:id="rId32"/>
    <p:sldId id="299" r:id="rId3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3166A62-7EDA-453C-A9E9-1268A3F427FF}">
  <a:tblStyle styleId="{F3166A62-7EDA-453C-A9E9-1268A3F427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E59A896-B620-4D75-857A-67D15E47683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2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0364470C-B8CE-0FC0-8ED0-BB33147D2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d2a0fde2a9_0_134:notes">
            <a:extLst>
              <a:ext uri="{FF2B5EF4-FFF2-40B4-BE49-F238E27FC236}">
                <a16:creationId xmlns:a16="http://schemas.microsoft.com/office/drawing/2014/main" id="{761173CA-2A0D-845D-96D7-F2EC74846D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d2a0fde2a9_0_134:notes">
            <a:extLst>
              <a:ext uri="{FF2B5EF4-FFF2-40B4-BE49-F238E27FC236}">
                <a16:creationId xmlns:a16="http://schemas.microsoft.com/office/drawing/2014/main" id="{DF770639-78D5-7AC7-4D5F-9FF687F539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g2d2a0fde2a9_0_134:notes">
            <a:extLst>
              <a:ext uri="{FF2B5EF4-FFF2-40B4-BE49-F238E27FC236}">
                <a16:creationId xmlns:a16="http://schemas.microsoft.com/office/drawing/2014/main" id="{0A746C5F-AC82-6D09-45E1-45A4063D51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s-CZ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9935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d2a0fde2a9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d2a0fde2a9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g2d2a0fde2a9_0_1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2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>
          <a:extLst>
            <a:ext uri="{FF2B5EF4-FFF2-40B4-BE49-F238E27FC236}">
              <a16:creationId xmlns:a16="http://schemas.microsoft.com/office/drawing/2014/main" id="{0BEDCD7D-F8EC-7FEB-5F1B-6FE8D8727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d2a0fde2a9_0_182:notes">
            <a:extLst>
              <a:ext uri="{FF2B5EF4-FFF2-40B4-BE49-F238E27FC236}">
                <a16:creationId xmlns:a16="http://schemas.microsoft.com/office/drawing/2014/main" id="{A3F326C6-6F01-240F-07BB-EE0A6EAF26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d2a0fde2a9_0_182:notes">
            <a:extLst>
              <a:ext uri="{FF2B5EF4-FFF2-40B4-BE49-F238E27FC236}">
                <a16:creationId xmlns:a16="http://schemas.microsoft.com/office/drawing/2014/main" id="{49283108-A383-9B88-0EFB-F35A3A4ED1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g2d2a0fde2a9_0_182:notes">
            <a:extLst>
              <a:ext uri="{FF2B5EF4-FFF2-40B4-BE49-F238E27FC236}">
                <a16:creationId xmlns:a16="http://schemas.microsoft.com/office/drawing/2014/main" id="{CEE12928-DC5F-5B9D-632A-0141FF4F35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0235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C2373ECD-2848-2A76-0B90-7EAB6EE82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d2a0fde2a9_0_134:notes">
            <a:extLst>
              <a:ext uri="{FF2B5EF4-FFF2-40B4-BE49-F238E27FC236}">
                <a16:creationId xmlns:a16="http://schemas.microsoft.com/office/drawing/2014/main" id="{691D7CB2-61DC-1B12-26D3-DA264CBBE6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d2a0fde2a9_0_134:notes">
            <a:extLst>
              <a:ext uri="{FF2B5EF4-FFF2-40B4-BE49-F238E27FC236}">
                <a16:creationId xmlns:a16="http://schemas.microsoft.com/office/drawing/2014/main" id="{EF6AA38E-BA46-E3AF-63D5-31B127D8DE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g2d2a0fde2a9_0_134:notes">
            <a:extLst>
              <a:ext uri="{FF2B5EF4-FFF2-40B4-BE49-F238E27FC236}">
                <a16:creationId xmlns:a16="http://schemas.microsoft.com/office/drawing/2014/main" id="{B875351A-97FC-C1A3-F3CD-58D3AB7C40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s-CZ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1399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d2a0fde2a9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d2a0fde2a9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2d2a0fde2a9_0_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s-CZ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>
          <a:extLst>
            <a:ext uri="{FF2B5EF4-FFF2-40B4-BE49-F238E27FC236}">
              <a16:creationId xmlns:a16="http://schemas.microsoft.com/office/drawing/2014/main" id="{F55954D4-45AA-C22C-F736-53A73022A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d2a0fde2a9_0_74:notes">
            <a:extLst>
              <a:ext uri="{FF2B5EF4-FFF2-40B4-BE49-F238E27FC236}">
                <a16:creationId xmlns:a16="http://schemas.microsoft.com/office/drawing/2014/main" id="{A6EA6EE8-F101-B3AF-603C-76217E13D6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d2a0fde2a9_0_74:notes">
            <a:extLst>
              <a:ext uri="{FF2B5EF4-FFF2-40B4-BE49-F238E27FC236}">
                <a16:creationId xmlns:a16="http://schemas.microsoft.com/office/drawing/2014/main" id="{2B086FCE-79C1-BF92-667E-20A2D38EC0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2d2a0fde2a9_0_74:notes">
            <a:extLst>
              <a:ext uri="{FF2B5EF4-FFF2-40B4-BE49-F238E27FC236}">
                <a16:creationId xmlns:a16="http://schemas.microsoft.com/office/drawing/2014/main" id="{99F8AD20-88F7-C0FB-B7E2-E8FFAC6A97B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s-CZ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10432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49E16341-F4DC-797D-51ED-C00473660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d2a0fde2a9_0_134:notes">
            <a:extLst>
              <a:ext uri="{FF2B5EF4-FFF2-40B4-BE49-F238E27FC236}">
                <a16:creationId xmlns:a16="http://schemas.microsoft.com/office/drawing/2014/main" id="{DDC4CAC7-21AF-C804-3141-AB8E4C0910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d2a0fde2a9_0_134:notes">
            <a:extLst>
              <a:ext uri="{FF2B5EF4-FFF2-40B4-BE49-F238E27FC236}">
                <a16:creationId xmlns:a16="http://schemas.microsoft.com/office/drawing/2014/main" id="{5654E489-2FD6-0375-6EC4-C1EF4D3E10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g2d2a0fde2a9_0_134:notes">
            <a:extLst>
              <a:ext uri="{FF2B5EF4-FFF2-40B4-BE49-F238E27FC236}">
                <a16:creationId xmlns:a16="http://schemas.microsoft.com/office/drawing/2014/main" id="{B0872AB0-BEA2-986C-A82E-24EA32CCC49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s-CZ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5395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99C2D747-E683-9C32-3C53-7C7351529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d2a0fde2a9_0_134:notes">
            <a:extLst>
              <a:ext uri="{FF2B5EF4-FFF2-40B4-BE49-F238E27FC236}">
                <a16:creationId xmlns:a16="http://schemas.microsoft.com/office/drawing/2014/main" id="{7971B726-6B0A-F291-DCAA-54D7B3AE09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d2a0fde2a9_0_134:notes">
            <a:extLst>
              <a:ext uri="{FF2B5EF4-FFF2-40B4-BE49-F238E27FC236}">
                <a16:creationId xmlns:a16="http://schemas.microsoft.com/office/drawing/2014/main" id="{B5ADE2D3-6F34-A440-5F4A-643EBA92E5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g2d2a0fde2a9_0_134:notes">
            <a:extLst>
              <a:ext uri="{FF2B5EF4-FFF2-40B4-BE49-F238E27FC236}">
                <a16:creationId xmlns:a16="http://schemas.microsoft.com/office/drawing/2014/main" id="{66697461-8B57-0B06-7542-2A8D15E377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s-CZ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2413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281C1C5F-1BB6-86D6-ABED-8ABD29178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d2a0fde2a9_0_134:notes">
            <a:extLst>
              <a:ext uri="{FF2B5EF4-FFF2-40B4-BE49-F238E27FC236}">
                <a16:creationId xmlns:a16="http://schemas.microsoft.com/office/drawing/2014/main" id="{2721D882-4A6E-E9C3-EBE1-CDA0A8AFC5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d2a0fde2a9_0_134:notes">
            <a:extLst>
              <a:ext uri="{FF2B5EF4-FFF2-40B4-BE49-F238E27FC236}">
                <a16:creationId xmlns:a16="http://schemas.microsoft.com/office/drawing/2014/main" id="{36FC53E6-6231-E6B5-6A4C-EEE1D71A55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g2d2a0fde2a9_0_134:notes">
            <a:extLst>
              <a:ext uri="{FF2B5EF4-FFF2-40B4-BE49-F238E27FC236}">
                <a16:creationId xmlns:a16="http://schemas.microsoft.com/office/drawing/2014/main" id="{49D0AA55-D8C5-2938-57D2-6D1D12783C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s-CZ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53038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069C9C82-1D48-1566-0BD9-8B45EFDBE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d2a0fde2a9_0_134:notes">
            <a:extLst>
              <a:ext uri="{FF2B5EF4-FFF2-40B4-BE49-F238E27FC236}">
                <a16:creationId xmlns:a16="http://schemas.microsoft.com/office/drawing/2014/main" id="{C7E1DF04-72AE-CCAF-0C45-B0A4FB4A98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d2a0fde2a9_0_134:notes">
            <a:extLst>
              <a:ext uri="{FF2B5EF4-FFF2-40B4-BE49-F238E27FC236}">
                <a16:creationId xmlns:a16="http://schemas.microsoft.com/office/drawing/2014/main" id="{6A800CAE-2DD8-0BBC-BF18-48B7E69D67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g2d2a0fde2a9_0_134:notes">
            <a:extLst>
              <a:ext uri="{FF2B5EF4-FFF2-40B4-BE49-F238E27FC236}">
                <a16:creationId xmlns:a16="http://schemas.microsoft.com/office/drawing/2014/main" id="{0C6F8A92-3285-3481-04CF-38B27EF480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s-CZ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81912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>
          <a:extLst>
            <a:ext uri="{FF2B5EF4-FFF2-40B4-BE49-F238E27FC236}">
              <a16:creationId xmlns:a16="http://schemas.microsoft.com/office/drawing/2014/main" id="{E3796B03-BE2A-E431-8E6D-FA77C7A2D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d2a0fde2a9_0_74:notes">
            <a:extLst>
              <a:ext uri="{FF2B5EF4-FFF2-40B4-BE49-F238E27FC236}">
                <a16:creationId xmlns:a16="http://schemas.microsoft.com/office/drawing/2014/main" id="{6B805EE8-9254-0130-62F7-40E791473E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d2a0fde2a9_0_74:notes">
            <a:extLst>
              <a:ext uri="{FF2B5EF4-FFF2-40B4-BE49-F238E27FC236}">
                <a16:creationId xmlns:a16="http://schemas.microsoft.com/office/drawing/2014/main" id="{9A3DC10B-8FD2-54CA-56C4-C7BD123CEA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2d2a0fde2a9_0_74:notes">
            <a:extLst>
              <a:ext uri="{FF2B5EF4-FFF2-40B4-BE49-F238E27FC236}">
                <a16:creationId xmlns:a16="http://schemas.microsoft.com/office/drawing/2014/main" id="{AA3D9E42-98CA-9492-41AC-6FB1AB74AB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s-CZ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15710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d2a0fde2a9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d2a0fde2a9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g2d2a0fde2a9_0_1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s-CZ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d2a0fde2a9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d2a0fde2a9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g2d2a0fde2a9_0_1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s-CZ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1a33c6476a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1a33c6476a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31a33c6476a_0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1a33c6476a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1a33c6476a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g31a33c6476a_0_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s-CZ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d2a0fde2a9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d2a0fde2a9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d2a0fde2a9_0_1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s-CZ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1a33c6476a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1a33c6476a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g31a33c6476a_0_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s-CZ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1a33c6476a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1a33c6476a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31a33c6476a_0_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s-CZ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B2C8B1AB-2B18-732B-1B7B-F67E07927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1a33c6476a_0_51:notes">
            <a:extLst>
              <a:ext uri="{FF2B5EF4-FFF2-40B4-BE49-F238E27FC236}">
                <a16:creationId xmlns:a16="http://schemas.microsoft.com/office/drawing/2014/main" id="{4177229D-CA83-8E3B-C469-20902875F7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1a33c6476a_0_51:notes">
            <a:extLst>
              <a:ext uri="{FF2B5EF4-FFF2-40B4-BE49-F238E27FC236}">
                <a16:creationId xmlns:a16="http://schemas.microsoft.com/office/drawing/2014/main" id="{FB4444B5-73C7-B0AE-82E6-F19622692C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31a33c6476a_0_51:notes">
            <a:extLst>
              <a:ext uri="{FF2B5EF4-FFF2-40B4-BE49-F238E27FC236}">
                <a16:creationId xmlns:a16="http://schemas.microsoft.com/office/drawing/2014/main" id="{465A0D9C-9D77-5774-5164-9BF5083E80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s-CZ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5738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86904072-E358-201C-1966-FF9486E82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1a33c6476a_0_51:notes">
            <a:extLst>
              <a:ext uri="{FF2B5EF4-FFF2-40B4-BE49-F238E27FC236}">
                <a16:creationId xmlns:a16="http://schemas.microsoft.com/office/drawing/2014/main" id="{5F141D5C-4A8C-9C38-C933-7E89911F11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1a33c6476a_0_51:notes">
            <a:extLst>
              <a:ext uri="{FF2B5EF4-FFF2-40B4-BE49-F238E27FC236}">
                <a16:creationId xmlns:a16="http://schemas.microsoft.com/office/drawing/2014/main" id="{8B66E4C8-FE80-C952-7E07-29B04A94C5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31a33c6476a_0_51:notes">
            <a:extLst>
              <a:ext uri="{FF2B5EF4-FFF2-40B4-BE49-F238E27FC236}">
                <a16:creationId xmlns:a16="http://schemas.microsoft.com/office/drawing/2014/main" id="{5F973BA6-E128-0D11-59EC-CB9244437F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s-CZ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08445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1a3ab4310c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1a3ab4310c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g31a3ab4310c_1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s-CZ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488CED73-37F9-3D8C-A716-E8BD4B9EC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1a33c6476a_0_51:notes">
            <a:extLst>
              <a:ext uri="{FF2B5EF4-FFF2-40B4-BE49-F238E27FC236}">
                <a16:creationId xmlns:a16="http://schemas.microsoft.com/office/drawing/2014/main" id="{BB275BB5-6CC1-37B9-AF82-7CD46A15E3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1a33c6476a_0_51:notes">
            <a:extLst>
              <a:ext uri="{FF2B5EF4-FFF2-40B4-BE49-F238E27FC236}">
                <a16:creationId xmlns:a16="http://schemas.microsoft.com/office/drawing/2014/main" id="{27C6848E-F558-9234-3F22-BBFD829EB2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31a33c6476a_0_51:notes">
            <a:extLst>
              <a:ext uri="{FF2B5EF4-FFF2-40B4-BE49-F238E27FC236}">
                <a16:creationId xmlns:a16="http://schemas.microsoft.com/office/drawing/2014/main" id="{E8F13210-7B30-5A71-F831-562E41BE92B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s-CZ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0464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d2a0fde2a9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d2a0fde2a9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g2d2a0fde2a9_0_20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s-CZ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d2a0fde2a9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2d2a0fde2a9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g2d2a0fde2a9_0_2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s-CZ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d2a0fde2a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2d2a0fde2a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g2d2a0fde2a9_0_2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d2a0fde2a9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2d2a0fde2a9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g2d2a0fde2a9_0_2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s-CZ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d9b40a41fd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d9b40a41fd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1a3ab4310c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1a3ab4310c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g31a3ab4310c_1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s-CZ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d9b40a41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2d9b40a41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d9c280c86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2d9c280c86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g2d9c280c86f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d9c280c86f_1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2d9c280c86f_1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g2d9c280c86f_1_3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s-CZ"/>
              <a:t>32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Úvodní snímek">
  <p:cSld name="Úvodní snímek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720000" y="6228000"/>
            <a:ext cx="7920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398502" y="2900365"/>
            <a:ext cx="11361600" cy="117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398502" y="4116402"/>
            <a:ext cx="11361600" cy="69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Arial"/>
              <a:buNone/>
              <a:defRPr sz="1800"/>
            </a:lvl3pPr>
            <a:lvl4pPr lvl="3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SzPts val="1440"/>
              <a:buFont typeface="Arial"/>
              <a:buNone/>
              <a:defRPr sz="1600"/>
            </a:lvl4pPr>
            <a:lvl5pPr lvl="4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5pPr>
            <a:lvl6pPr lvl="5" algn="ctr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9" name="Google Shape;1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000" y="414000"/>
            <a:ext cx="1546942" cy="1056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32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– inverse">
  <p:cSld name="Title slide – inverse">
    <p:bg>
      <p:bgPr>
        <a:solidFill>
          <a:srgbClr val="46C8FF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720000" y="6228000"/>
            <a:ext cx="7920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398502" y="2900365"/>
            <a:ext cx="11361600" cy="117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ubTitle" idx="1"/>
          </p:nvPr>
        </p:nvSpPr>
        <p:spPr>
          <a:xfrm>
            <a:off x="398502" y="4116402"/>
            <a:ext cx="11361600" cy="69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Arial"/>
              <a:buNone/>
              <a:defRPr sz="1800"/>
            </a:lvl3pPr>
            <a:lvl4pPr lvl="3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SzPts val="1440"/>
              <a:buFont typeface="Arial"/>
              <a:buNone/>
              <a:defRPr sz="1600"/>
            </a:lvl4pPr>
            <a:lvl5pPr lvl="4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5pPr>
            <a:lvl6pPr lvl="5" algn="ctr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000" y="414000"/>
            <a:ext cx="1535991" cy="1049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32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ing, subheading and text">
  <p:cSld name="Heading, subheading and 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720000" y="1692002"/>
            <a:ext cx="10753200" cy="4139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̶"/>
              <a:defRPr b="0"/>
            </a:lvl1pPr>
            <a:lvl2pPr marL="914400" lvl="1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̶"/>
              <a:defRPr sz="2000"/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720000" y="6228000"/>
            <a:ext cx="7920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720725" y="1296001"/>
            <a:ext cx="10752138" cy="271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720000" y="720000"/>
            <a:ext cx="10753200" cy="451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81278" y="6050735"/>
            <a:ext cx="867340" cy="59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ing and comparison">
  <p:cSld name="Heading and comparis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720000" y="6228000"/>
            <a:ext cx="7920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720725" y="1296001"/>
            <a:ext cx="5220000" cy="271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720000" y="720000"/>
            <a:ext cx="10753200" cy="451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251278" y="1290515"/>
            <a:ext cx="5220000" cy="271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3"/>
          </p:nvPr>
        </p:nvSpPr>
        <p:spPr>
          <a:xfrm>
            <a:off x="720000" y="1692001"/>
            <a:ext cx="5219998" cy="4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̶"/>
              <a:defRPr b="0"/>
            </a:lvl1pPr>
            <a:lvl2pPr marL="914400" lvl="1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̶"/>
              <a:defRPr sz="2000"/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4"/>
          </p:nvPr>
        </p:nvSpPr>
        <p:spPr>
          <a:xfrm>
            <a:off x="6251280" y="1690271"/>
            <a:ext cx="5219998" cy="4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̶"/>
              <a:defRPr b="0"/>
            </a:lvl1pPr>
            <a:lvl2pPr marL="914400" lvl="1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̶"/>
              <a:defRPr sz="2000"/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47" name="Google Shape;47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81278" y="6050735"/>
            <a:ext cx="867340" cy="59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ing, content and text">
  <p:cSld name="Heading, content and 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>
            <a:spLocks noGrp="1"/>
          </p:cNvSpPr>
          <p:nvPr>
            <p:ph type="body" idx="1"/>
          </p:nvPr>
        </p:nvSpPr>
        <p:spPr>
          <a:xfrm>
            <a:off x="719137" y="1695074"/>
            <a:ext cx="5218413" cy="3896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720000" y="6228000"/>
            <a:ext cx="7920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20000" y="720000"/>
            <a:ext cx="10753200" cy="451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2"/>
          </p:nvPr>
        </p:nvSpPr>
        <p:spPr>
          <a:xfrm>
            <a:off x="720725" y="5599670"/>
            <a:ext cx="521841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000" b="0" i="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3"/>
          </p:nvPr>
        </p:nvSpPr>
        <p:spPr>
          <a:xfrm>
            <a:off x="6251280" y="1667024"/>
            <a:ext cx="5219998" cy="4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̶"/>
              <a:defRPr sz="2000" b="0"/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̶"/>
              <a:defRPr sz="1600"/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55" name="Google Shape;55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81278" y="6050735"/>
            <a:ext cx="867340" cy="59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pos="724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ing, subheading and three columns">
  <p:cSld name="Heading, subheading and three column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>
            <a:spLocks noGrp="1"/>
          </p:cNvSpPr>
          <p:nvPr>
            <p:ph type="body" idx="1"/>
          </p:nvPr>
        </p:nvSpPr>
        <p:spPr>
          <a:xfrm>
            <a:off x="4440000" y="1692002"/>
            <a:ext cx="3311525" cy="2230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ftr" idx="11"/>
          </p:nvPr>
        </p:nvSpPr>
        <p:spPr>
          <a:xfrm>
            <a:off x="720000" y="6228000"/>
            <a:ext cx="7920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2"/>
          </p:nvPr>
        </p:nvSpPr>
        <p:spPr>
          <a:xfrm>
            <a:off x="719999" y="4414271"/>
            <a:ext cx="3312000" cy="142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None/>
              <a:defRPr sz="15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None/>
              <a:defRPr u="none"/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5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body" idx="3"/>
          </p:nvPr>
        </p:nvSpPr>
        <p:spPr>
          <a:xfrm>
            <a:off x="4440000" y="4414271"/>
            <a:ext cx="3312000" cy="142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None/>
              <a:defRPr sz="15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None/>
              <a:defRPr u="none"/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5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4"/>
          </p:nvPr>
        </p:nvSpPr>
        <p:spPr>
          <a:xfrm>
            <a:off x="8161200" y="4414270"/>
            <a:ext cx="3312000" cy="142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None/>
              <a:defRPr sz="15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None/>
              <a:defRPr u="none"/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5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5"/>
          </p:nvPr>
        </p:nvSpPr>
        <p:spPr>
          <a:xfrm>
            <a:off x="720725" y="4025136"/>
            <a:ext cx="3311525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000" b="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body" idx="6"/>
          </p:nvPr>
        </p:nvSpPr>
        <p:spPr>
          <a:xfrm>
            <a:off x="4440475" y="4025136"/>
            <a:ext cx="3311525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000" b="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body" idx="7"/>
          </p:nvPr>
        </p:nvSpPr>
        <p:spPr>
          <a:xfrm>
            <a:off x="8161436" y="4025136"/>
            <a:ext cx="3311525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000" b="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body" idx="8"/>
          </p:nvPr>
        </p:nvSpPr>
        <p:spPr>
          <a:xfrm>
            <a:off x="719999" y="1692002"/>
            <a:ext cx="3311525" cy="2230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body" idx="9"/>
          </p:nvPr>
        </p:nvSpPr>
        <p:spPr>
          <a:xfrm>
            <a:off x="8160001" y="1692002"/>
            <a:ext cx="3311525" cy="2230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body" idx="13"/>
          </p:nvPr>
        </p:nvSpPr>
        <p:spPr>
          <a:xfrm>
            <a:off x="720725" y="1296001"/>
            <a:ext cx="10752138" cy="271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title"/>
          </p:nvPr>
        </p:nvSpPr>
        <p:spPr>
          <a:xfrm>
            <a:off x="720000" y="720000"/>
            <a:ext cx="10753200" cy="451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81278" y="6050735"/>
            <a:ext cx="867340" cy="59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9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text without heading">
  <p:cSld name="Content and text without heading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 txBox="1">
            <a:spLocks noGrp="1"/>
          </p:cNvSpPr>
          <p:nvPr>
            <p:ph type="ftr" idx="11"/>
          </p:nvPr>
        </p:nvSpPr>
        <p:spPr>
          <a:xfrm>
            <a:off x="720000" y="6228000"/>
            <a:ext cx="7920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1"/>
          </p:nvPr>
        </p:nvSpPr>
        <p:spPr>
          <a:xfrm>
            <a:off x="6272212" y="692150"/>
            <a:ext cx="5200987" cy="513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̶"/>
              <a:defRPr sz="2000" b="0"/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̶"/>
              <a:defRPr sz="1600"/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2"/>
          </p:nvPr>
        </p:nvSpPr>
        <p:spPr>
          <a:xfrm>
            <a:off x="719137" y="692150"/>
            <a:ext cx="5218413" cy="4899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3"/>
          </p:nvPr>
        </p:nvSpPr>
        <p:spPr>
          <a:xfrm>
            <a:off x="720725" y="5599670"/>
            <a:ext cx="521841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000" b="0" i="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81278" y="6050735"/>
            <a:ext cx="867340" cy="59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58">
          <p15:clr>
            <a:srgbClr val="FBAE40"/>
          </p15:clr>
        </p15:guide>
        <p15:guide id="2" pos="43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out heading">
  <p:cSld name="Content without heading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 txBox="1">
            <a:spLocks noGrp="1"/>
          </p:cNvSpPr>
          <p:nvPr>
            <p:ph type="ftr" idx="11"/>
          </p:nvPr>
        </p:nvSpPr>
        <p:spPr>
          <a:xfrm>
            <a:off x="720000" y="6228000"/>
            <a:ext cx="7920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720000" y="692150"/>
            <a:ext cx="10753200" cy="513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̶"/>
              <a:defRPr b="0"/>
            </a:lvl1pPr>
            <a:lvl2pPr marL="914400" lvl="1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̶"/>
              <a:defRPr sz="2000"/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82" name="Google Shape;8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81278" y="6050735"/>
            <a:ext cx="867340" cy="59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>
          <p15:clr>
            <a:srgbClr val="FBAE40"/>
          </p15:clr>
        </p15:guide>
        <p15:guide id="2" pos="43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, text – two columns">
  <p:cSld name="Images, text – two column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body" idx="1"/>
          </p:nvPr>
        </p:nvSpPr>
        <p:spPr>
          <a:xfrm>
            <a:off x="719997" y="718712"/>
            <a:ext cx="5220001" cy="3204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ftr" idx="11"/>
          </p:nvPr>
        </p:nvSpPr>
        <p:spPr>
          <a:xfrm>
            <a:off x="720000" y="6228000"/>
            <a:ext cx="7920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2"/>
          </p:nvPr>
        </p:nvSpPr>
        <p:spPr>
          <a:xfrm>
            <a:off x="719999" y="4500000"/>
            <a:ext cx="5220000" cy="1331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None/>
              <a:defRPr sz="15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None/>
              <a:defRPr u="none"/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5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3"/>
          </p:nvPr>
        </p:nvSpPr>
        <p:spPr>
          <a:xfrm>
            <a:off x="720724" y="4068000"/>
            <a:ext cx="52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None/>
              <a:defRPr sz="9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4"/>
          </p:nvPr>
        </p:nvSpPr>
        <p:spPr>
          <a:xfrm>
            <a:off x="6251278" y="4500000"/>
            <a:ext cx="5220000" cy="1331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None/>
              <a:defRPr sz="15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None/>
              <a:defRPr u="none"/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5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5"/>
          </p:nvPr>
        </p:nvSpPr>
        <p:spPr>
          <a:xfrm>
            <a:off x="6252003" y="4068000"/>
            <a:ext cx="52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None/>
              <a:defRPr sz="9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body" idx="6"/>
          </p:nvPr>
        </p:nvSpPr>
        <p:spPr>
          <a:xfrm>
            <a:off x="6251278" y="718712"/>
            <a:ext cx="5220001" cy="3204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92" name="Google Shape;92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81278" y="6050735"/>
            <a:ext cx="867340" cy="59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 slide">
  <p:cSld name="Empty slide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"/>
          <p:cNvSpPr txBox="1">
            <a:spLocks noGrp="1"/>
          </p:cNvSpPr>
          <p:nvPr>
            <p:ph type="ftr" idx="11"/>
          </p:nvPr>
        </p:nvSpPr>
        <p:spPr>
          <a:xfrm>
            <a:off x="720000" y="6228000"/>
            <a:ext cx="7920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  <p:pic>
        <p:nvPicPr>
          <p:cNvPr id="96" name="Google Shape;96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81278" y="6050735"/>
            <a:ext cx="867340" cy="59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verse slide with image">
  <p:cSld name="Inverse slide with image">
    <p:bg>
      <p:bgPr>
        <a:solidFill>
          <a:srgbClr val="46C8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3"/>
          <p:cNvSpPr txBox="1">
            <a:spLocks noGrp="1"/>
          </p:cNvSpPr>
          <p:nvPr>
            <p:ph type="ftr" idx="11"/>
          </p:nvPr>
        </p:nvSpPr>
        <p:spPr>
          <a:xfrm>
            <a:off x="720000" y="6228000"/>
            <a:ext cx="7920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  <p:sp>
        <p:nvSpPr>
          <p:cNvPr id="100" name="Google Shape;100;p13"/>
          <p:cNvSpPr>
            <a:spLocks noGrp="1"/>
          </p:cNvSpPr>
          <p:nvPr>
            <p:ph type="pic" idx="2"/>
          </p:nvPr>
        </p:nvSpPr>
        <p:spPr>
          <a:xfrm>
            <a:off x="0" y="1"/>
            <a:ext cx="12192000" cy="58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1" name="Google Shape;101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83731" y="6048047"/>
            <a:ext cx="874748" cy="59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NI ARTS slide">
  <p:cSld name="MUNI ARTS slide">
    <p:bg>
      <p:bgPr>
        <a:solidFill>
          <a:srgbClr val="46C8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42870" y="2019300"/>
            <a:ext cx="4147317" cy="283331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>
            <a:spLocks noGrp="1"/>
          </p:cNvSpPr>
          <p:nvPr>
            <p:ph type="ftr" idx="11"/>
          </p:nvPr>
        </p:nvSpPr>
        <p:spPr>
          <a:xfrm>
            <a:off x="720000" y="6228000"/>
            <a:ext cx="7920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4BC8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BC8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BC8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BC8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BC8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BC8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BC8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BC8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BC8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BC8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NI slide">
  <p:cSld name="MUNI slide">
    <p:bg>
      <p:bgPr>
        <a:solidFill>
          <a:schemeClr val="dk2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44028" y="2285079"/>
            <a:ext cx="8890088" cy="230483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>
            <a:spLocks noGrp="1"/>
          </p:cNvSpPr>
          <p:nvPr>
            <p:ph type="ftr" idx="11"/>
          </p:nvPr>
        </p:nvSpPr>
        <p:spPr>
          <a:xfrm>
            <a:off x="720000" y="6228000"/>
            <a:ext cx="7920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D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0000D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0000D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0000D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0000D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0000D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0000D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0000D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0000D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0000D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350"/>
              <a:buNone/>
              <a:defRPr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marL="2743200" lvl="5" indent="-342900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413959" y="6228000"/>
            <a:ext cx="252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z="1200">
                <a:solidFill>
                  <a:srgbClr val="0000DC"/>
                </a:solidFill>
              </a:rPr>
              <a:t>‹#›</a:t>
            </a:fld>
            <a:endParaRPr sz="1200">
              <a:solidFill>
                <a:srgbClr val="0000DC"/>
              </a:solidFill>
            </a:endParaRPr>
          </a:p>
        </p:txBody>
      </p:sp>
      <p:pic>
        <p:nvPicPr>
          <p:cNvPr id="114" name="Google Shape;114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80207" y="6050735"/>
            <a:ext cx="867255" cy="592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81887" y="5959862"/>
            <a:ext cx="808195" cy="788197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628788" y="6170772"/>
            <a:ext cx="9963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200" b="1">
                <a:solidFill>
                  <a:srgbClr val="0000DC"/>
                </a:solidFill>
              </a:rPr>
              <a:t>Robert L. J. Shaw; Tomáš Hampejs: Guilt by Association?</a:t>
            </a:r>
            <a:endParaRPr sz="1200" b="1">
              <a:solidFill>
                <a:srgbClr val="0000D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200">
                <a:solidFill>
                  <a:srgbClr val="0000DC"/>
                </a:solidFill>
              </a:rPr>
              <a:t>Masaryk University • Faculty of Arts • Department for the Study of Religions • Centre for the Digital Research of Religion • dissinet.cz</a:t>
            </a:r>
            <a:endParaRPr sz="1200">
              <a:solidFill>
                <a:srgbClr val="0000D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DC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ftr" idx="11"/>
          </p:nvPr>
        </p:nvSpPr>
        <p:spPr>
          <a:xfrm>
            <a:off x="720000" y="6228000"/>
            <a:ext cx="7920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720000" y="720000"/>
            <a:ext cx="10753200" cy="451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287D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287D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287D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287D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287D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287D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287D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287D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718800" y="1872000"/>
            <a:ext cx="10753200" cy="3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9">
          <p15:clr>
            <a:srgbClr val="F26B43"/>
          </p15:clr>
        </p15:guide>
        <p15:guide id="2" pos="4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www.dissinet.cz" TargetMode="Externa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cran.r-project.org/web/packages/ergm.ego/index.html" TargetMode="External"/><Relationship Id="rId3" Type="http://schemas.openxmlformats.org/officeDocument/2006/relationships/hyperlink" Target="https://cran.r-project.org/web/packages/ergm/index.html" TargetMode="External"/><Relationship Id="rId7" Type="http://schemas.openxmlformats.org/officeDocument/2006/relationships/hyperlink" Target="https://github.com/corneliusfritz/ergm.sign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ran.r-project.org/web/packages/lolog/index.html" TargetMode="External"/><Relationship Id="rId11" Type="http://schemas.openxmlformats.org/officeDocument/2006/relationships/hyperlink" Target="https://github.com/juergenlerner/eventnet/wiki/Directed-RHEM-for-multicast-interaction-(tutorial)" TargetMode="External"/><Relationship Id="rId5" Type="http://schemas.openxmlformats.org/officeDocument/2006/relationships/hyperlink" Target="https://cran.r-project.org/web/packages/Bergm/index.html" TargetMode="External"/><Relationship Id="rId10" Type="http://schemas.openxmlformats.org/officeDocument/2006/relationships/hyperlink" Target="https://sn.ethz.ch/research/goldfish.html" TargetMode="External"/><Relationship Id="rId4" Type="http://schemas.openxmlformats.org/officeDocument/2006/relationships/hyperlink" Target="https://cran.r-project.org/web/packages/tergm/index.html" TargetMode="External"/><Relationship Id="rId9" Type="http://schemas.openxmlformats.org/officeDocument/2006/relationships/hyperlink" Target="https://cran.r-project.org/web/packages/RSiena/index.htm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tatnet.org/workshop-ergm/ergm_tutorial.html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uergenlerner/eventnet/wiki/Directed-RHEM-for-multicast-interaction-(tutorial)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>
            <a:spLocks noGrp="1"/>
          </p:cNvSpPr>
          <p:nvPr>
            <p:ph type="title"/>
          </p:nvPr>
        </p:nvSpPr>
        <p:spPr>
          <a:xfrm>
            <a:off x="371475" y="2824386"/>
            <a:ext cx="11693700" cy="206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noProof="0" dirty="0"/>
              <a:t>Social Network Analysis – “Second wave” (After the 90s)</a:t>
            </a: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US" sz="1800" b="0" noProof="0" dirty="0">
                <a:solidFill>
                  <a:srgbClr val="666666"/>
                </a:solidFill>
              </a:rPr>
            </a:br>
            <a:br>
              <a:rPr lang="en-US" sz="1800" b="0" noProof="0" dirty="0">
                <a:solidFill>
                  <a:srgbClr val="666666"/>
                </a:solidFill>
              </a:rPr>
            </a:br>
            <a:r>
              <a:rPr lang="en-US" sz="1800" b="0" noProof="0" dirty="0">
                <a:solidFill>
                  <a:srgbClr val="666666"/>
                </a:solidFill>
              </a:rPr>
              <a:t>Zoltán Brys</a:t>
            </a:r>
          </a:p>
        </p:txBody>
      </p:sp>
      <p:pic>
        <p:nvPicPr>
          <p:cNvPr id="126" name="Google Shape;12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91600" y="5539625"/>
            <a:ext cx="2772400" cy="116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1725" y="0"/>
            <a:ext cx="7060270" cy="243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 txBox="1"/>
          <p:nvPr/>
        </p:nvSpPr>
        <p:spPr>
          <a:xfrm>
            <a:off x="322300" y="5742282"/>
            <a:ext cx="8196300" cy="10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noProof="0" dirty="0">
                <a:solidFill>
                  <a:schemeClr val="dk1"/>
                </a:solidFill>
              </a:rPr>
              <a:t>Masaryk University • Centre for the Digital Research of Religion</a:t>
            </a: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noProof="0" dirty="0">
                <a:solidFill>
                  <a:schemeClr val="dk1"/>
                </a:solidFill>
              </a:rPr>
              <a:t>DISSINET – Dissident Networks Project</a:t>
            </a: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noProof="0" dirty="0">
                <a:solidFill>
                  <a:schemeClr val="dk2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www.dissinet.cz</a:t>
            </a:r>
            <a:endParaRPr lang="en-US" sz="1600" noProof="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F916C9BB-D906-BD37-47D1-4730978C5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>
            <a:extLst>
              <a:ext uri="{FF2B5EF4-FFF2-40B4-BE49-F238E27FC236}">
                <a16:creationId xmlns:a16="http://schemas.microsoft.com/office/drawing/2014/main" id="{38786EB8-12FB-C3DC-D315-2A8EF4AA19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2</a:t>
            </a:fld>
            <a:endParaRPr lang="en-US" noProof="0" dirty="0"/>
          </a:p>
        </p:txBody>
      </p:sp>
      <p:sp>
        <p:nvSpPr>
          <p:cNvPr id="231" name="Google Shape;231;p32">
            <a:extLst>
              <a:ext uri="{FF2B5EF4-FFF2-40B4-BE49-F238E27FC236}">
                <a16:creationId xmlns:a16="http://schemas.microsoft.com/office/drawing/2014/main" id="{3C2EE635-4AA6-4EBA-4949-3F5B2E9FC1E2}"/>
              </a:ext>
            </a:extLst>
          </p:cNvPr>
          <p:cNvSpPr txBox="1"/>
          <p:nvPr/>
        </p:nvSpPr>
        <p:spPr>
          <a:xfrm>
            <a:off x="117500" y="-61675"/>
            <a:ext cx="12123900" cy="686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292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900" b="1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key questions</a:t>
            </a:r>
            <a:br>
              <a:rPr lang="en-US" sz="29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29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Calibri"/>
              <a:buChar char="⇢"/>
            </a:pPr>
            <a:r>
              <a:rPr lang="en-US" sz="300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000" noProof="0" dirty="0" err="1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oes</a:t>
            </a:r>
            <a:r>
              <a:rPr lang="en-US" sz="30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the problem-solving require a relational-approach? </a:t>
            </a:r>
            <a:br>
              <a:rPr lang="en-US" sz="30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30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Calibri"/>
              <a:buChar char="⇢"/>
            </a:pPr>
            <a:r>
              <a:rPr lang="en-US" sz="300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unit of analysis / unit of observation /  unit of coding</a:t>
            </a:r>
            <a:br>
              <a:rPr lang="en-US" sz="300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300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Calibri"/>
              <a:buChar char="⇢"/>
            </a:pPr>
            <a:r>
              <a:rPr lang="en-US" sz="300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state</a:t>
            </a:r>
            <a:r>
              <a:rPr lang="en-US" sz="30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or event</a:t>
            </a:r>
            <a:br>
              <a:rPr lang="en-US" sz="30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30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Calibri"/>
              <a:buChar char="⇢"/>
            </a:pPr>
            <a:r>
              <a:rPr lang="en-US" sz="30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boundaries of the network</a:t>
            </a:r>
            <a:br>
              <a:rPr lang="en-US" sz="30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30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Calibri"/>
              <a:buChar char="⇢"/>
            </a:pPr>
            <a:r>
              <a:rPr lang="en-US" sz="300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ontology and context </a:t>
            </a:r>
            <a:br>
              <a:rPr lang="en-US" sz="300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(what does the network represent how was the data collected)  </a:t>
            </a:r>
            <a:br>
              <a:rPr lang="en-US" sz="30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30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0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8591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3</a:t>
            </a:fld>
            <a:endParaRPr lang="en-US" noProof="0" dirty="0"/>
          </a:p>
        </p:txBody>
      </p:sp>
      <p:sp>
        <p:nvSpPr>
          <p:cNvPr id="274" name="Google Shape;274;p38"/>
          <p:cNvSpPr txBox="1"/>
          <p:nvPr/>
        </p:nvSpPr>
        <p:spPr>
          <a:xfrm>
            <a:off x="91800" y="160950"/>
            <a:ext cx="12123900" cy="57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292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900" b="1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</a:t>
            </a:r>
            <a:br>
              <a:rPr lang="en-US" sz="29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29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0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0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  number of possible undirected binary graphs with </a:t>
            </a:r>
            <a:r>
              <a:rPr lang="en-US" sz="3500" i="1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r>
              <a:rPr lang="en-US" sz="35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nodes?</a:t>
            </a:r>
            <a:br>
              <a:rPr lang="en-US" sz="35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35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0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6669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>
          <a:extLst>
            <a:ext uri="{FF2B5EF4-FFF2-40B4-BE49-F238E27FC236}">
              <a16:creationId xmlns:a16="http://schemas.microsoft.com/office/drawing/2014/main" id="{7A1CAD21-BE85-C7DE-7B96-BF5807863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>
            <a:extLst>
              <a:ext uri="{FF2B5EF4-FFF2-40B4-BE49-F238E27FC236}">
                <a16:creationId xmlns:a16="http://schemas.microsoft.com/office/drawing/2014/main" id="{C8D5E6B5-4783-14FE-2B20-7F0A2474CBB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4</a:t>
            </a:fld>
            <a:endParaRPr lang="en-US" noProof="0" dirty="0"/>
          </a:p>
        </p:txBody>
      </p:sp>
      <p:sp>
        <p:nvSpPr>
          <p:cNvPr id="274" name="Google Shape;274;p38">
            <a:extLst>
              <a:ext uri="{FF2B5EF4-FFF2-40B4-BE49-F238E27FC236}">
                <a16:creationId xmlns:a16="http://schemas.microsoft.com/office/drawing/2014/main" id="{672FEF05-443C-AA0A-725A-9F1D560BF96E}"/>
              </a:ext>
            </a:extLst>
          </p:cNvPr>
          <p:cNvSpPr txBox="1"/>
          <p:nvPr/>
        </p:nvSpPr>
        <p:spPr>
          <a:xfrm>
            <a:off x="91800" y="160950"/>
            <a:ext cx="12123900" cy="57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292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900" b="1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</a:t>
            </a:r>
            <a:br>
              <a:rPr lang="en-US" sz="29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29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0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0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  number of possible undirected binary graphs with </a:t>
            </a:r>
            <a:r>
              <a:rPr lang="en-US" sz="3500" i="1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r>
              <a:rPr lang="en-US" sz="35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nodes?</a:t>
            </a:r>
            <a:br>
              <a:rPr lang="en-US" sz="35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35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 2</a:t>
            </a:r>
            <a:r>
              <a:rPr lang="en-US" sz="3500" baseline="300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(30 under two) </a:t>
            </a:r>
            <a:r>
              <a:rPr lang="en-US" sz="35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= 2</a:t>
            </a:r>
            <a:r>
              <a:rPr lang="en-US" sz="3500" baseline="300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435 </a:t>
            </a:r>
            <a:br>
              <a:rPr lang="en-US" sz="3500" baseline="300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3500" baseline="300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aseline="3000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(w</a:t>
            </a:r>
            <a:r>
              <a:rPr lang="en-US" sz="3500" baseline="300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ay more then the number of atoms in the observable universe)</a:t>
            </a:r>
            <a:br>
              <a:rPr lang="en-US" sz="35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35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0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845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B02EBF2F-BFC3-ECFA-7BF9-9B11D5194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>
            <a:extLst>
              <a:ext uri="{FF2B5EF4-FFF2-40B4-BE49-F238E27FC236}">
                <a16:creationId xmlns:a16="http://schemas.microsoft.com/office/drawing/2014/main" id="{373BF1FF-CEE3-4F07-B619-0C19CA71A4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5</a:t>
            </a:fld>
            <a:endParaRPr lang="en-US" noProof="0" dirty="0"/>
          </a:p>
        </p:txBody>
      </p:sp>
      <p:sp>
        <p:nvSpPr>
          <p:cNvPr id="231" name="Google Shape;231;p32">
            <a:extLst>
              <a:ext uri="{FF2B5EF4-FFF2-40B4-BE49-F238E27FC236}">
                <a16:creationId xmlns:a16="http://schemas.microsoft.com/office/drawing/2014/main" id="{A2A92FCF-B4DF-82E9-8AD4-7DBB701CFED5}"/>
              </a:ext>
            </a:extLst>
          </p:cNvPr>
          <p:cNvSpPr txBox="1"/>
          <p:nvPr/>
        </p:nvSpPr>
        <p:spPr>
          <a:xfrm>
            <a:off x="117500" y="-61675"/>
            <a:ext cx="12123900" cy="686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292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900" b="1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15000"/>
              </a:lnSpc>
            </a:pPr>
            <a:r>
              <a:rPr lang="en-US" sz="3400" b="1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</a:t>
            </a:r>
            <a:r>
              <a:rPr lang="en-US" sz="3400" b="1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First Wave of Quantitative SNA (~1970–~1990)</a:t>
            </a:r>
            <a:br>
              <a:rPr lang="en-US" sz="29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29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953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</a:pPr>
            <a:endParaRPr lang="en-US" sz="300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0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45605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"/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6</a:t>
            </a:fld>
            <a:endParaRPr lang="en-US" noProof="0" dirty="0"/>
          </a:p>
        </p:txBody>
      </p:sp>
      <p:graphicFrame>
        <p:nvGraphicFramePr>
          <p:cNvPr id="217" name="Google Shape;217;p30"/>
          <p:cNvGraphicFramePr/>
          <p:nvPr>
            <p:extLst>
              <p:ext uri="{D42A27DB-BD31-4B8C-83A1-F6EECF244321}">
                <p14:modId xmlns:p14="http://schemas.microsoft.com/office/powerpoint/2010/main" val="3442595826"/>
              </p:ext>
            </p:extLst>
          </p:nvPr>
        </p:nvGraphicFramePr>
        <p:xfrm>
          <a:off x="317148" y="197639"/>
          <a:ext cx="10946323" cy="5836600"/>
        </p:xfrm>
        <a:graphic>
          <a:graphicData uri="http://schemas.openxmlformats.org/drawingml/2006/table">
            <a:tbl>
              <a:tblPr>
                <a:noFill/>
                <a:tableStyleId>{F3166A62-7EDA-453C-A9E9-1268A3F427FF}</a:tableStyleId>
              </a:tblPr>
              <a:tblGrid>
                <a:gridCol w="7767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92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9575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3000" b="0" i="0" u="none" strike="noStrike" cap="none" dirty="0">
                          <a:solidFill>
                            <a:srgbClr val="434343"/>
                          </a:solidFill>
                          <a:latin typeface="Calibri"/>
                          <a:cs typeface="Calibri"/>
                          <a:sym typeface="Arial"/>
                        </a:rPr>
                        <a:t>number of nodes (also isolated) / edges / density</a:t>
                      </a:r>
                    </a:p>
                  </a:txBody>
                  <a:tcPr marL="19050" marR="19050" marT="12700" marB="1270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95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000" b="0" i="0" u="none" strike="noStrike" cap="none" dirty="0">
                          <a:solidFill>
                            <a:srgbClr val="434343"/>
                          </a:solidFill>
                          <a:latin typeface="Calibri"/>
                          <a:cs typeface="Calibri"/>
                          <a:sym typeface="Arial"/>
                        </a:rPr>
                        <a:t>average path length / diameter</a:t>
                      </a:r>
                    </a:p>
                  </a:txBody>
                  <a:tcPr marL="19050" marR="19050" marT="12700" marB="1270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9575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3000" b="0" i="0" u="none" strike="noStrike" cap="none" dirty="0">
                          <a:solidFill>
                            <a:srgbClr val="434343"/>
                          </a:solidFill>
                          <a:latin typeface="Calibri"/>
                          <a:cs typeface="Calibri"/>
                          <a:sym typeface="Arial"/>
                        </a:rPr>
                        <a:t>reciprocity / </a:t>
                      </a:r>
                      <a:r>
                        <a:rPr lang="en-US" sz="3000" b="0" i="0" u="none" strike="noStrike" cap="none" dirty="0" err="1">
                          <a:solidFill>
                            <a:srgbClr val="434343"/>
                          </a:solidFill>
                          <a:latin typeface="Calibri"/>
                          <a:cs typeface="Calibri"/>
                          <a:sym typeface="Arial"/>
                        </a:rPr>
                        <a:t>recip</a:t>
                      </a:r>
                      <a:r>
                        <a:rPr lang="en-US" sz="3000" b="0" i="0" u="none" strike="noStrike" cap="none" dirty="0">
                          <a:solidFill>
                            <a:srgbClr val="434343"/>
                          </a:solidFill>
                          <a:latin typeface="Calibri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3000" b="0" i="0" u="none" strike="noStrike" cap="none" dirty="0" err="1">
                          <a:solidFill>
                            <a:srgbClr val="434343"/>
                          </a:solidFill>
                          <a:latin typeface="Calibri"/>
                          <a:cs typeface="Calibri"/>
                          <a:sym typeface="Arial"/>
                        </a:rPr>
                        <a:t>cor</a:t>
                      </a:r>
                      <a:r>
                        <a:rPr lang="en-US" sz="3000" b="0" i="0" u="none" strike="noStrike" cap="none" dirty="0">
                          <a:solidFill>
                            <a:srgbClr val="434343"/>
                          </a:solidFill>
                          <a:latin typeface="Calibri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3000" b="0" i="0" u="none" strike="noStrike" cap="none" dirty="0" err="1">
                          <a:solidFill>
                            <a:srgbClr val="434343"/>
                          </a:solidFill>
                          <a:latin typeface="Calibri"/>
                          <a:cs typeface="Calibri"/>
                          <a:sym typeface="Arial"/>
                        </a:rPr>
                        <a:t>coef</a:t>
                      </a:r>
                      <a:endParaRPr lang="en-US" sz="3000" b="0" i="0" u="none" strike="noStrike" cap="none" dirty="0">
                        <a:solidFill>
                          <a:srgbClr val="434343"/>
                        </a:solidFill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9575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3000" b="0" i="0" u="none" strike="noStrike" cap="none" dirty="0">
                          <a:solidFill>
                            <a:srgbClr val="434343"/>
                          </a:solidFill>
                          <a:latin typeface="Calibri"/>
                          <a:cs typeface="Calibri"/>
                          <a:sym typeface="Arial"/>
                        </a:rPr>
                        <a:t>degree distribution</a:t>
                      </a:r>
                    </a:p>
                  </a:txBody>
                  <a:tcPr marL="19050" marR="19050" marT="12700" marB="1270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9575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3000" b="0" i="0" u="none" strike="noStrike" cap="none" dirty="0">
                          <a:solidFill>
                            <a:srgbClr val="434343"/>
                          </a:solidFill>
                          <a:latin typeface="Calibri"/>
                          <a:cs typeface="Calibri"/>
                          <a:sym typeface="Arial"/>
                        </a:rPr>
                        <a:t>degree centrality</a:t>
                      </a:r>
                    </a:p>
                  </a:txBody>
                  <a:tcPr marL="19050" marR="19050" marT="12700" marB="1270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9575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3000" b="0" i="0" u="none" strike="noStrike" cap="none" dirty="0">
                          <a:solidFill>
                            <a:srgbClr val="434343"/>
                          </a:solidFill>
                          <a:latin typeface="Calibri"/>
                          <a:cs typeface="Calibri"/>
                          <a:sym typeface="Arial"/>
                        </a:rPr>
                        <a:t>number of components </a:t>
                      </a:r>
                    </a:p>
                  </a:txBody>
                  <a:tcPr marL="19050" marR="19050" marT="12700" marB="1270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29575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3000" b="0" i="0" u="none" strike="noStrike" cap="none" dirty="0">
                          <a:solidFill>
                            <a:srgbClr val="434343"/>
                          </a:solidFill>
                          <a:latin typeface="Calibri"/>
                          <a:cs typeface="Calibri"/>
                          <a:sym typeface="Arial"/>
                        </a:rPr>
                        <a:t>tie strength</a:t>
                      </a:r>
                    </a:p>
                  </a:txBody>
                  <a:tcPr marL="19050" marR="19050" marT="12700" marB="1270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114536"/>
                  </a:ext>
                </a:extLst>
              </a:tr>
              <a:tr h="729575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3000" b="0" i="0" u="none" strike="noStrike" cap="none" dirty="0">
                          <a:solidFill>
                            <a:srgbClr val="434343"/>
                          </a:solidFill>
                          <a:latin typeface="Calibri"/>
                          <a:cs typeface="Calibri"/>
                          <a:sym typeface="Arial"/>
                        </a:rPr>
                        <a:t>…</a:t>
                      </a:r>
                    </a:p>
                  </a:txBody>
                  <a:tcPr marL="19050" marR="19050" marT="12700" marB="1270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3356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>
          <a:extLst>
            <a:ext uri="{FF2B5EF4-FFF2-40B4-BE49-F238E27FC236}">
              <a16:creationId xmlns:a16="http://schemas.microsoft.com/office/drawing/2014/main" id="{96A95566-3283-C543-49D3-912BF61CA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">
            <a:extLst>
              <a:ext uri="{FF2B5EF4-FFF2-40B4-BE49-F238E27FC236}">
                <a16:creationId xmlns:a16="http://schemas.microsoft.com/office/drawing/2014/main" id="{5E45EB68-555E-EEB0-AB45-F167169DA8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7</a:t>
            </a:fld>
            <a:endParaRPr lang="en-US" noProof="0" dirty="0"/>
          </a:p>
        </p:txBody>
      </p:sp>
      <p:graphicFrame>
        <p:nvGraphicFramePr>
          <p:cNvPr id="217" name="Google Shape;217;p30">
            <a:extLst>
              <a:ext uri="{FF2B5EF4-FFF2-40B4-BE49-F238E27FC236}">
                <a16:creationId xmlns:a16="http://schemas.microsoft.com/office/drawing/2014/main" id="{4212AE67-BF31-7D11-516E-4FDF6A0530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2773499"/>
              </p:ext>
            </p:extLst>
          </p:nvPr>
        </p:nvGraphicFramePr>
        <p:xfrm>
          <a:off x="292925" y="209750"/>
          <a:ext cx="10946323" cy="5836600"/>
        </p:xfrm>
        <a:graphic>
          <a:graphicData uri="http://schemas.openxmlformats.org/drawingml/2006/table">
            <a:tbl>
              <a:tblPr>
                <a:noFill/>
                <a:tableStyleId>{F3166A62-7EDA-453C-A9E9-1268A3F427FF}</a:tableStyleId>
              </a:tblPr>
              <a:tblGrid>
                <a:gridCol w="7767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92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9575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3000" b="0" i="0" u="none" strike="noStrike" cap="none" dirty="0">
                          <a:solidFill>
                            <a:srgbClr val="434343"/>
                          </a:solidFill>
                          <a:latin typeface="Calibri"/>
                          <a:cs typeface="Calibri"/>
                          <a:sym typeface="Arial"/>
                        </a:rPr>
                        <a:t>betweenness centrality</a:t>
                      </a:r>
                    </a:p>
                  </a:txBody>
                  <a:tcPr marL="19050" marR="19050" marT="12700" marB="1270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9575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3000" b="0" i="0" u="none" strike="noStrike" cap="none" dirty="0">
                          <a:solidFill>
                            <a:srgbClr val="434343"/>
                          </a:solidFill>
                          <a:latin typeface="Calibri"/>
                          <a:cs typeface="Calibri"/>
                          <a:sym typeface="Arial"/>
                        </a:rPr>
                        <a:t>closeness centrality</a:t>
                      </a:r>
                    </a:p>
                  </a:txBody>
                  <a:tcPr marL="19050" marR="19050" marT="12700" marB="1270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9575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3000" b="0" i="0" u="none" strike="noStrike" cap="none" dirty="0">
                          <a:solidFill>
                            <a:srgbClr val="434343"/>
                          </a:solidFill>
                          <a:latin typeface="Calibri"/>
                          <a:cs typeface="Calibri"/>
                          <a:sym typeface="Arial"/>
                        </a:rPr>
                        <a:t>eigenvector centrality</a:t>
                      </a:r>
                    </a:p>
                  </a:txBody>
                  <a:tcPr marL="19050" marR="19050" marT="12700" marB="1270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9575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3000" b="0" i="0" u="none" strike="noStrike" cap="none" dirty="0">
                          <a:solidFill>
                            <a:srgbClr val="434343"/>
                          </a:solidFill>
                          <a:latin typeface="Calibri"/>
                          <a:cs typeface="Calibri"/>
                          <a:sym typeface="Arial"/>
                        </a:rPr>
                        <a:t>clustering coefficient</a:t>
                      </a:r>
                    </a:p>
                  </a:txBody>
                  <a:tcPr marL="19050" marR="19050" marT="12700" marB="1270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9575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3000" b="0" i="0" u="none" strike="noStrike" cap="none" dirty="0">
                          <a:solidFill>
                            <a:srgbClr val="434343"/>
                          </a:solidFill>
                          <a:latin typeface="Calibri"/>
                          <a:cs typeface="Calibri"/>
                          <a:sym typeface="Arial"/>
                        </a:rPr>
                        <a:t>edge weight analysis</a:t>
                      </a:r>
                    </a:p>
                  </a:txBody>
                  <a:tcPr marL="19050" marR="19050" marT="12700" marB="1270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9575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3000" b="0" i="0" u="none" strike="noStrike" cap="none" dirty="0">
                          <a:solidFill>
                            <a:srgbClr val="434343"/>
                          </a:solidFill>
                          <a:latin typeface="Calibri"/>
                          <a:cs typeface="Calibri"/>
                          <a:sym typeface="Arial"/>
                        </a:rPr>
                        <a:t>community detection</a:t>
                      </a:r>
                    </a:p>
                  </a:txBody>
                  <a:tcPr marL="19050" marR="19050" marT="12700" marB="1270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9575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3000" b="0" i="0" u="none" strike="noStrike" cap="none" dirty="0">
                          <a:solidFill>
                            <a:srgbClr val="434343"/>
                          </a:solidFill>
                          <a:latin typeface="Calibri"/>
                          <a:cs typeface="Calibri"/>
                          <a:sym typeface="Arial"/>
                        </a:rPr>
                        <a:t>core-periphery structure</a:t>
                      </a:r>
                    </a:p>
                  </a:txBody>
                  <a:tcPr marL="19050" marR="19050" marT="12700" marB="1270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9575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3000" b="0" i="0" u="none" strike="noStrike" cap="none" dirty="0">
                          <a:solidFill>
                            <a:srgbClr val="434343"/>
                          </a:solidFill>
                          <a:latin typeface="Calibri"/>
                          <a:cs typeface="Calibri"/>
                          <a:sym typeface="Arial"/>
                        </a:rPr>
                        <a:t>…</a:t>
                      </a:r>
                    </a:p>
                  </a:txBody>
                  <a:tcPr marL="19050" marR="19050" marT="12700" marB="1270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0626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796C1F1A-370B-5123-4AAD-5A5967340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>
            <a:extLst>
              <a:ext uri="{FF2B5EF4-FFF2-40B4-BE49-F238E27FC236}">
                <a16:creationId xmlns:a16="http://schemas.microsoft.com/office/drawing/2014/main" id="{8F4FB242-A500-EDA0-D368-57BA9F2D1A7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8</a:t>
            </a:fld>
            <a:endParaRPr lang="en-US" noProof="0" dirty="0"/>
          </a:p>
        </p:txBody>
      </p:sp>
      <p:sp>
        <p:nvSpPr>
          <p:cNvPr id="231" name="Google Shape;231;p32">
            <a:extLst>
              <a:ext uri="{FF2B5EF4-FFF2-40B4-BE49-F238E27FC236}">
                <a16:creationId xmlns:a16="http://schemas.microsoft.com/office/drawing/2014/main" id="{659AEBCD-2C09-03A8-9217-4FEABF75402D}"/>
              </a:ext>
            </a:extLst>
          </p:cNvPr>
          <p:cNvSpPr txBox="1"/>
          <p:nvPr/>
        </p:nvSpPr>
        <p:spPr>
          <a:xfrm>
            <a:off x="117500" y="-61675"/>
            <a:ext cx="12123900" cy="686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292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900" b="1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15000"/>
              </a:lnSpc>
            </a:pPr>
            <a:r>
              <a:rPr lang="en-US" sz="3400" b="1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</a:t>
            </a:r>
            <a:r>
              <a:rPr lang="en-US" sz="3400" b="1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Mantel Test</a:t>
            </a:r>
            <a:br>
              <a:rPr lang="en-US" sz="29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29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953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</a:pPr>
            <a:endParaRPr lang="en-US" sz="300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953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</a:pPr>
            <a:endParaRPr lang="en-US" sz="300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Calibri"/>
              <a:buChar char="⇢"/>
            </a:pPr>
            <a:r>
              <a:rPr lang="en-US" sz="30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non-parametric matrix correlation test of two distance matrices</a:t>
            </a:r>
            <a:br>
              <a:rPr lang="en-US" sz="30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30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Calibri"/>
              <a:buChar char="⇢"/>
            </a:pPr>
            <a:r>
              <a:rPr lang="en-US" sz="300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30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plies node-permutation (</a:t>
            </a:r>
            <a:r>
              <a:rPr lang="en-US" sz="300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randomly reassign node-order)</a:t>
            </a:r>
            <a:br>
              <a:rPr lang="en-US" sz="300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300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953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</a:pPr>
            <a:endParaRPr lang="en-US" sz="1600" i="1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95300" lvl="0">
              <a:lnSpc>
                <a:spcPct val="115000"/>
              </a:lnSpc>
              <a:buClr>
                <a:srgbClr val="434343"/>
              </a:buClr>
              <a:buSzPts val="3000"/>
            </a:pPr>
            <a:r>
              <a:rPr lang="en-CA" sz="2000" i="1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Mantel, N. (1967). The detection of disease clustering and a generalized regression approach. </a:t>
            </a:r>
            <a:br>
              <a:rPr lang="en-CA" sz="2000" i="1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CA" sz="2000" i="1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Cancer research, 27:209-220.</a:t>
            </a:r>
            <a:endParaRPr lang="en-US" sz="2000" i="1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0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81934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C73C4BC3-0096-FE0E-E468-6FAE88F68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>
            <a:extLst>
              <a:ext uri="{FF2B5EF4-FFF2-40B4-BE49-F238E27FC236}">
                <a16:creationId xmlns:a16="http://schemas.microsoft.com/office/drawing/2014/main" id="{B88E3088-5DCB-D509-6BDA-4702161C20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9</a:t>
            </a:fld>
            <a:endParaRPr lang="en-US" noProof="0" dirty="0"/>
          </a:p>
        </p:txBody>
      </p:sp>
      <p:sp>
        <p:nvSpPr>
          <p:cNvPr id="231" name="Google Shape;231;p32">
            <a:extLst>
              <a:ext uri="{FF2B5EF4-FFF2-40B4-BE49-F238E27FC236}">
                <a16:creationId xmlns:a16="http://schemas.microsoft.com/office/drawing/2014/main" id="{2525A6F4-35DD-A906-4E5D-C3FE015BE367}"/>
              </a:ext>
            </a:extLst>
          </p:cNvPr>
          <p:cNvSpPr txBox="1"/>
          <p:nvPr/>
        </p:nvSpPr>
        <p:spPr>
          <a:xfrm>
            <a:off x="117500" y="-61675"/>
            <a:ext cx="12123900" cy="686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292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900" b="1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15000"/>
              </a:lnSpc>
            </a:pPr>
            <a:r>
              <a:rPr lang="en-US" sz="3400" b="1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</a:t>
            </a:r>
            <a:r>
              <a:rPr lang="en-US" sz="3400" b="1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MRQAP </a:t>
            </a:r>
            <a:br>
              <a:rPr lang="en-US" sz="3400" b="1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400" b="1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		 </a:t>
            </a:r>
            <a:br>
              <a:rPr lang="en-US" sz="29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29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19100">
              <a:lnSpc>
                <a:spcPct val="115000"/>
              </a:lnSpc>
              <a:buClr>
                <a:srgbClr val="434343"/>
              </a:buClr>
              <a:buSzPts val="3000"/>
              <a:buFont typeface="Calibri"/>
              <a:buChar char="⇢"/>
            </a:pPr>
            <a:r>
              <a:rPr lang="en-US" sz="300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Multiple Regression Quadratic Assignment Procedure</a:t>
            </a:r>
            <a:br>
              <a:rPr lang="en-US" sz="300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300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19100">
              <a:lnSpc>
                <a:spcPct val="115000"/>
              </a:lnSpc>
              <a:buClr>
                <a:srgbClr val="434343"/>
              </a:buClr>
              <a:buSzPts val="3000"/>
              <a:buFont typeface="Calibri"/>
              <a:buChar char="⇢"/>
            </a:pPr>
            <a:r>
              <a:rPr lang="en-US" sz="300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Extension of Mantel Test to multiple distance matrices</a:t>
            </a:r>
            <a:br>
              <a:rPr lang="en-US" sz="300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300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19100">
              <a:lnSpc>
                <a:spcPct val="115000"/>
              </a:lnSpc>
              <a:buClr>
                <a:srgbClr val="434343"/>
              </a:buClr>
              <a:buSzPts val="3000"/>
              <a:buFont typeface="Calibri"/>
              <a:buChar char="⇢"/>
            </a:pPr>
            <a:r>
              <a:rPr lang="en-US" sz="300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Still widely used </a:t>
            </a:r>
            <a:r>
              <a:rPr lang="en-US" sz="200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[e.g. in health behavior, </a:t>
            </a:r>
            <a:r>
              <a:rPr lang="en-CA" sz="200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Arch of Sexual </a:t>
            </a:r>
            <a:r>
              <a:rPr lang="en-CA" sz="2000" dirty="0" err="1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Behav</a:t>
            </a:r>
            <a:r>
              <a:rPr lang="en-CA" sz="200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(2021): 1-11.</a:t>
            </a:r>
            <a:r>
              <a:rPr lang="en-US" sz="200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br>
              <a:rPr lang="en-US" sz="300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300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95300" lvl="0">
              <a:lnSpc>
                <a:spcPct val="115000"/>
              </a:lnSpc>
              <a:buClr>
                <a:srgbClr val="434343"/>
              </a:buClr>
              <a:buSzPts val="3000"/>
            </a:pPr>
            <a:endParaRPr lang="en-US" sz="200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Calibri"/>
              <a:buChar char="⇢"/>
            </a:pPr>
            <a:endParaRPr lang="en-US" sz="300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953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</a:pPr>
            <a:endParaRPr lang="en-US" sz="30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0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5363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17E4C51F-A38A-D1A5-3FE2-912F383A0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>
            <a:extLst>
              <a:ext uri="{FF2B5EF4-FFF2-40B4-BE49-F238E27FC236}">
                <a16:creationId xmlns:a16="http://schemas.microsoft.com/office/drawing/2014/main" id="{A61F78D4-AC68-C732-AC9A-0D18069CD8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10</a:t>
            </a:fld>
            <a:endParaRPr lang="en-US" noProof="0" dirty="0"/>
          </a:p>
        </p:txBody>
      </p:sp>
      <p:sp>
        <p:nvSpPr>
          <p:cNvPr id="231" name="Google Shape;231;p32">
            <a:extLst>
              <a:ext uri="{FF2B5EF4-FFF2-40B4-BE49-F238E27FC236}">
                <a16:creationId xmlns:a16="http://schemas.microsoft.com/office/drawing/2014/main" id="{F69035B0-95F7-C5D1-219F-65F619AAA4A6}"/>
              </a:ext>
            </a:extLst>
          </p:cNvPr>
          <p:cNvSpPr txBox="1"/>
          <p:nvPr/>
        </p:nvSpPr>
        <p:spPr>
          <a:xfrm>
            <a:off x="117500" y="-61675"/>
            <a:ext cx="12123900" cy="686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292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900" b="1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15000"/>
              </a:lnSpc>
            </a:pPr>
            <a:r>
              <a:rPr lang="en-US" sz="3400" b="1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</a:t>
            </a:r>
            <a:r>
              <a:rPr lang="en-US" sz="3400" b="1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MRQAP </a:t>
            </a:r>
            <a:br>
              <a:rPr lang="en-US" sz="3400" b="1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400" b="1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		 </a:t>
            </a:r>
            <a:br>
              <a:rPr lang="en-US" sz="29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300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953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</a:pPr>
            <a:endParaRPr lang="en-US" sz="30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0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77C930-3E65-1496-7298-75C0D6687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65" y="1874186"/>
            <a:ext cx="9806086" cy="384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699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6DDE52A1-EABB-D0DF-2863-2E2042B77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>
            <a:extLst>
              <a:ext uri="{FF2B5EF4-FFF2-40B4-BE49-F238E27FC236}">
                <a16:creationId xmlns:a16="http://schemas.microsoft.com/office/drawing/2014/main" id="{0553BCE0-720B-FCFC-3D3F-D48EC6C85C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11</a:t>
            </a:fld>
            <a:endParaRPr lang="en-US" noProof="0" dirty="0"/>
          </a:p>
        </p:txBody>
      </p:sp>
      <p:sp>
        <p:nvSpPr>
          <p:cNvPr id="231" name="Google Shape;231;p32">
            <a:extLst>
              <a:ext uri="{FF2B5EF4-FFF2-40B4-BE49-F238E27FC236}">
                <a16:creationId xmlns:a16="http://schemas.microsoft.com/office/drawing/2014/main" id="{4F6F73CC-1F6F-E85D-D323-E350CDEB7D77}"/>
              </a:ext>
            </a:extLst>
          </p:cNvPr>
          <p:cNvSpPr txBox="1"/>
          <p:nvPr/>
        </p:nvSpPr>
        <p:spPr>
          <a:xfrm>
            <a:off x="117500" y="-61675"/>
            <a:ext cx="12123900" cy="686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292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900" b="1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15000"/>
              </a:lnSpc>
            </a:pPr>
            <a:r>
              <a:rPr lang="en-US" sz="3400" b="1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</a:t>
            </a:r>
            <a:r>
              <a:rPr lang="en-US" sz="3400" b="1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Second Wave (~1990–~2020)</a:t>
            </a:r>
            <a:br>
              <a:rPr lang="en-US" sz="29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29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953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</a:pPr>
            <a:endParaRPr lang="en-US" sz="300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0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8154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>
          <a:extLst>
            <a:ext uri="{FF2B5EF4-FFF2-40B4-BE49-F238E27FC236}">
              <a16:creationId xmlns:a16="http://schemas.microsoft.com/office/drawing/2014/main" id="{1001244B-1A52-C527-25EC-AB7E300EB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">
            <a:extLst>
              <a:ext uri="{FF2B5EF4-FFF2-40B4-BE49-F238E27FC236}">
                <a16:creationId xmlns:a16="http://schemas.microsoft.com/office/drawing/2014/main" id="{F8B0D201-DAAA-A414-071A-E22F1B1C94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12</a:t>
            </a:fld>
            <a:endParaRPr lang="en-US" noProof="0" dirty="0"/>
          </a:p>
        </p:txBody>
      </p:sp>
      <p:graphicFrame>
        <p:nvGraphicFramePr>
          <p:cNvPr id="217" name="Google Shape;217;p30">
            <a:extLst>
              <a:ext uri="{FF2B5EF4-FFF2-40B4-BE49-F238E27FC236}">
                <a16:creationId xmlns:a16="http://schemas.microsoft.com/office/drawing/2014/main" id="{AA1E76C7-E453-2A97-2964-283918D4A5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4715191"/>
              </p:ext>
            </p:extLst>
          </p:nvPr>
        </p:nvGraphicFramePr>
        <p:xfrm>
          <a:off x="292925" y="209750"/>
          <a:ext cx="11724750" cy="6566175"/>
        </p:xfrm>
        <a:graphic>
          <a:graphicData uri="http://schemas.openxmlformats.org/drawingml/2006/table">
            <a:tbl>
              <a:tblPr>
                <a:noFill/>
                <a:tableStyleId>{F3166A62-7EDA-453C-A9E9-1268A3F427FF}</a:tableStyleId>
              </a:tblPr>
              <a:tblGrid>
                <a:gridCol w="1650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7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000" b="1" noProof="0" dirty="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ERGM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noProof="0" dirty="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Exponential Random Graph Models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sng" noProof="0" dirty="0" err="1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"/>
                        </a:rPr>
                        <a:t>ergm</a:t>
                      </a:r>
                      <a:r>
                        <a:rPr lang="en-US" sz="3000" u="sng" noProof="0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"/>
                        </a:rPr>
                        <a:t> </a:t>
                      </a:r>
                      <a:r>
                        <a:rPr lang="en-US" sz="3000" noProof="0" dirty="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noProof="0" dirty="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time-ERGM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sng" noProof="0" dirty="0" err="1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"/>
                        </a:rPr>
                        <a:t>tergm</a:t>
                      </a:r>
                      <a:r>
                        <a:rPr lang="en-US" sz="3000" u="sng" noProof="0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"/>
                        </a:rPr>
                        <a:t> </a:t>
                      </a:r>
                      <a:r>
                        <a:rPr lang="en-US" sz="3000" noProof="0" dirty="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noProof="0" dirty="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Bayesian ERGM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sng" noProof="0" dirty="0" err="1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5"/>
                        </a:rPr>
                        <a:t>bergm</a:t>
                      </a: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noProof="0" dirty="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Latent Order Logistic Graph Models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sng" noProof="0" dirty="0" err="1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lolog</a:t>
                      </a: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3000" noProof="0" dirty="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Signed ERGM</a:t>
                      </a: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noProof="0" dirty="0" err="1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ergm.sign</a:t>
                      </a: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323052"/>
                  </a:ext>
                </a:extLst>
              </a:tr>
              <a:tr h="72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noProof="0" dirty="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ERGM to Egocentrically Sampled Data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sng" noProof="0" dirty="0" err="1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/>
                        </a:rPr>
                        <a:t>ergm.ego</a:t>
                      </a: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 noProof="0" dirty="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SAOM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noProof="0" dirty="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Stochastic Actor-Oriented Models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sng" noProof="0" dirty="0" err="1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/>
                        </a:rPr>
                        <a:t>RSiena</a:t>
                      </a: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 noProof="0" dirty="0" err="1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DyNAM</a:t>
                      </a:r>
                      <a:endParaRPr lang="en-US" sz="3000" b="1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noProof="0" dirty="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Dynamic Network Actor Models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sng" noProof="0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/>
                        </a:rPr>
                        <a:t>goldfish</a:t>
                      </a: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 noProof="0" dirty="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HREM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noProof="0" dirty="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Relational </a:t>
                      </a:r>
                      <a:r>
                        <a:rPr lang="en-US" sz="3000" noProof="0" dirty="0" err="1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Hyperevent</a:t>
                      </a:r>
                      <a:r>
                        <a:rPr lang="en-US" sz="3000" noProof="0" dirty="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Models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sng" noProof="0" dirty="0" err="1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/>
                        </a:rPr>
                        <a:t>eventnet</a:t>
                      </a: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4355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13</a:t>
            </a:fld>
            <a:endParaRPr lang="en-US" noProof="0" dirty="0"/>
          </a:p>
        </p:txBody>
      </p:sp>
      <p:pic>
        <p:nvPicPr>
          <p:cNvPr id="246" name="Google Shape;24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1400" y="515725"/>
            <a:ext cx="50292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14</a:t>
            </a:fld>
            <a:endParaRPr lang="en-US" noProof="0" dirty="0"/>
          </a:p>
        </p:txBody>
      </p:sp>
      <p:sp>
        <p:nvSpPr>
          <p:cNvPr id="231" name="Google Shape;231;p32"/>
          <p:cNvSpPr txBox="1"/>
          <p:nvPr/>
        </p:nvSpPr>
        <p:spPr>
          <a:xfrm>
            <a:off x="117500" y="-61675"/>
            <a:ext cx="12123900" cy="57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292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900" b="1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When to use ERGM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9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29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Calibri"/>
              <a:buChar char="⇢"/>
            </a:pPr>
            <a:r>
              <a:rPr lang="en-US" sz="30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objective is to assess the </a:t>
            </a:r>
            <a:r>
              <a:rPr lang="en-US" sz="3000" i="1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aggregated outcome / long-term equilibrium</a:t>
            </a:r>
            <a:r>
              <a:rPr lang="en-US" sz="30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of possible graph-generating mechanisms</a:t>
            </a:r>
            <a:br>
              <a:rPr lang="en-US" sz="30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30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Calibri"/>
              <a:buChar char="⇢"/>
            </a:pPr>
            <a:r>
              <a:rPr lang="en-US" sz="30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primarily to understand </a:t>
            </a:r>
            <a:r>
              <a:rPr lang="en-US" sz="3000" i="1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states</a:t>
            </a:r>
            <a:br>
              <a:rPr lang="en-US" sz="30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30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Calibri"/>
              <a:buChar char="⇢"/>
            </a:pPr>
            <a:r>
              <a:rPr lang="en-US" sz="3000" i="1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input terms</a:t>
            </a:r>
            <a:r>
              <a:rPr lang="en-US" sz="30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are the tie-generation functions of the graph</a:t>
            </a:r>
            <a:br>
              <a:rPr lang="en-US" sz="30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30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Calibri"/>
              <a:buChar char="⇢"/>
            </a:pPr>
            <a:r>
              <a:rPr lang="en-US" sz="30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calculate the </a:t>
            </a:r>
            <a:r>
              <a:rPr lang="en-US" sz="3000" i="1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conditional log-odd probabilities</a:t>
            </a:r>
            <a:r>
              <a:rPr lang="en-US" sz="30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of having an edge between two random nodes for all the given input terms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0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6"/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15</a:t>
            </a:fld>
            <a:endParaRPr lang="en-US" noProof="0" dirty="0"/>
          </a:p>
        </p:txBody>
      </p:sp>
      <p:sp>
        <p:nvSpPr>
          <p:cNvPr id="260" name="Google Shape;260;p36"/>
          <p:cNvSpPr txBox="1"/>
          <p:nvPr/>
        </p:nvSpPr>
        <p:spPr>
          <a:xfrm>
            <a:off x="91800" y="160950"/>
            <a:ext cx="12123900" cy="57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292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900" b="1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</a:t>
            </a:r>
            <a:br>
              <a:rPr lang="en-US" sz="29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29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noProof="0" dirty="0">
                <a:solidFill>
                  <a:srgbClr val="434343"/>
                </a:solidFill>
                <a:latin typeface="+mj-lt"/>
                <a:ea typeface="Calibri"/>
                <a:cs typeface="Calibri"/>
                <a:sym typeface="Calibri"/>
              </a:rPr>
              <a:t>   </a:t>
            </a:r>
            <a:r>
              <a:rPr lang="es-ES" sz="3500" noProof="0" dirty="0">
                <a:solidFill>
                  <a:srgbClr val="434343"/>
                </a:solidFill>
                <a:latin typeface="+mj-lt"/>
                <a:ea typeface="Calibri"/>
                <a:cs typeface="Cordia New" panose="020B0304020202020204" pitchFamily="34" charset="-34"/>
                <a:sym typeface="Calibri"/>
              </a:rPr>
              <a:t>log(P(Y=y)) = </a:t>
            </a:r>
            <a:r>
              <a:rPr lang="es-ES" sz="3500" b="1" noProof="0" dirty="0" err="1">
                <a:solidFill>
                  <a:srgbClr val="434343"/>
                </a:solidFill>
                <a:latin typeface="+mj-lt"/>
                <a:ea typeface="Calibri"/>
                <a:cs typeface="Cordia New" panose="020B0304020202020204" pitchFamily="34" charset="-34"/>
                <a:sym typeface="Calibri"/>
              </a:rPr>
              <a:t>θ</a:t>
            </a:r>
            <a:r>
              <a:rPr lang="es-ES" sz="3500" baseline="30000" noProof="0" dirty="0" err="1">
                <a:solidFill>
                  <a:srgbClr val="434343"/>
                </a:solidFill>
                <a:latin typeface="+mj-lt"/>
                <a:ea typeface="Calibri"/>
                <a:cs typeface="Cordia New" panose="020B0304020202020204" pitchFamily="34" charset="-34"/>
                <a:sym typeface="Calibri"/>
              </a:rPr>
              <a:t>⊤</a:t>
            </a:r>
            <a:r>
              <a:rPr lang="es-ES" sz="3500" noProof="0" dirty="0" err="1">
                <a:solidFill>
                  <a:srgbClr val="434343"/>
                </a:solidFill>
                <a:latin typeface="+mj-lt"/>
                <a:ea typeface="Calibri"/>
                <a:cs typeface="Cordia New" panose="020B0304020202020204" pitchFamily="34" charset="-34"/>
                <a:sym typeface="Calibri"/>
              </a:rPr>
              <a:t>g</a:t>
            </a:r>
            <a:r>
              <a:rPr lang="es-ES" sz="3500" noProof="0" dirty="0">
                <a:solidFill>
                  <a:srgbClr val="434343"/>
                </a:solidFill>
                <a:latin typeface="+mj-lt"/>
                <a:ea typeface="Calibri"/>
                <a:cs typeface="Cordia New" panose="020B0304020202020204" pitchFamily="34" charset="-34"/>
                <a:sym typeface="Calibri"/>
              </a:rPr>
              <a:t>(y)−</a:t>
            </a:r>
            <a:r>
              <a:rPr lang="es-ES" sz="3500" noProof="0" dirty="0" err="1">
                <a:solidFill>
                  <a:srgbClr val="434343"/>
                </a:solidFill>
                <a:latin typeface="+mj-lt"/>
                <a:ea typeface="Calibri"/>
                <a:cs typeface="Cordia New" panose="020B0304020202020204" pitchFamily="34" charset="-34"/>
                <a:sym typeface="Calibri"/>
              </a:rPr>
              <a:t>logk</a:t>
            </a:r>
            <a:r>
              <a:rPr lang="es-ES" sz="3500" noProof="0" dirty="0">
                <a:solidFill>
                  <a:srgbClr val="434343"/>
                </a:solidFill>
                <a:latin typeface="+mj-lt"/>
                <a:ea typeface="Calibri"/>
                <a:cs typeface="Cordia New" panose="020B0304020202020204" pitchFamily="34" charset="-34"/>
                <a:sym typeface="Calibri"/>
              </a:rPr>
              <a:t>(θ)</a:t>
            </a:r>
            <a:endParaRPr lang="en-US" sz="3000" dirty="0">
              <a:solidFill>
                <a:srgbClr val="434343"/>
              </a:solidFill>
              <a:latin typeface="+mj-lt"/>
              <a:ea typeface="Calibri"/>
              <a:cs typeface="Cordia New" panose="020B0304020202020204" pitchFamily="34" charset="-34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0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P(Y=y): probability of observing the specific network out of the set of all possible networks with the same node set.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0"/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16</a:t>
            </a:fld>
            <a:endParaRPr lang="en-US" noProof="0" dirty="0"/>
          </a:p>
        </p:txBody>
      </p:sp>
      <p:pic>
        <p:nvPicPr>
          <p:cNvPr id="288" name="Google Shape;28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982" y="93413"/>
            <a:ext cx="7499923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2"/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17</a:t>
            </a:fld>
            <a:endParaRPr lang="en-US" noProof="0" dirty="0"/>
          </a:p>
        </p:txBody>
      </p:sp>
      <p:sp>
        <p:nvSpPr>
          <p:cNvPr id="304" name="Google Shape;304;p42"/>
          <p:cNvSpPr txBox="1"/>
          <p:nvPr/>
        </p:nvSpPr>
        <p:spPr>
          <a:xfrm>
            <a:off x="91800" y="160950"/>
            <a:ext cx="12123900" cy="57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292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900" b="1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iterative</a:t>
            </a:r>
            <a:br>
              <a:rPr lang="en-US" sz="29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29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0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Calibri"/>
              <a:buChar char="⇢"/>
            </a:pPr>
            <a:r>
              <a:rPr lang="en-US" sz="30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Maximum Likelihood Estimation</a:t>
            </a:r>
            <a:br>
              <a:rPr lang="en-US" sz="30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30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Calibri"/>
              <a:buChar char="⇢"/>
            </a:pPr>
            <a:r>
              <a:rPr lang="en-US" sz="30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Markov Chain Monte Carlo (MCMC)</a:t>
            </a:r>
            <a:br>
              <a:rPr lang="en-US" sz="30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30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Calibri"/>
              <a:buChar char="⇢"/>
            </a:pPr>
            <a:r>
              <a:rPr lang="en-US" sz="30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Convergence</a:t>
            </a:r>
            <a:br>
              <a:rPr lang="en-US" sz="30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3000" noProof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Calibri"/>
              <a:buChar char="⇢"/>
            </a:pPr>
            <a:r>
              <a:rPr lang="en-US" sz="3000" i="1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why can the calculation take weeks?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5"/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18</a:t>
            </a:fld>
            <a:endParaRPr lang="en-US" noProof="0" dirty="0"/>
          </a:p>
        </p:txBody>
      </p:sp>
      <p:pic>
        <p:nvPicPr>
          <p:cNvPr id="326" name="Google Shape;32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275" y="58225"/>
            <a:ext cx="11456067" cy="5923202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5"/>
          <p:cNvSpPr txBox="1"/>
          <p:nvPr/>
        </p:nvSpPr>
        <p:spPr>
          <a:xfrm>
            <a:off x="5086500" y="6284350"/>
            <a:ext cx="7105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u="sng" noProof="0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https://statnet.org/workshop-ergm/ergm_tutorial.html</a:t>
            </a:r>
            <a:endParaRPr lang="en-US" sz="2200" b="1" noProof="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6"/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19</a:t>
            </a:fld>
            <a:endParaRPr lang="en-US" noProof="0" dirty="0"/>
          </a:p>
        </p:txBody>
      </p:sp>
      <p:sp>
        <p:nvSpPr>
          <p:cNvPr id="334" name="Google Shape;334;p46"/>
          <p:cNvSpPr txBox="1">
            <a:spLocks noGrp="1"/>
          </p:cNvSpPr>
          <p:nvPr>
            <p:ph type="subTitle" idx="1"/>
          </p:nvPr>
        </p:nvSpPr>
        <p:spPr>
          <a:xfrm>
            <a:off x="371477" y="3162402"/>
            <a:ext cx="11361600" cy="69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practice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3000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46"/>
          <p:cNvSpPr/>
          <p:nvPr/>
        </p:nvSpPr>
        <p:spPr>
          <a:xfrm>
            <a:off x="203875" y="297450"/>
            <a:ext cx="2837400" cy="1368000"/>
          </a:xfrm>
          <a:prstGeom prst="rect">
            <a:avLst/>
          </a:prstGeom>
          <a:solidFill>
            <a:srgbClr val="333333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sp>
        <p:nvSpPr>
          <p:cNvPr id="336" name="Google Shape;336;p46"/>
          <p:cNvSpPr/>
          <p:nvPr/>
        </p:nvSpPr>
        <p:spPr>
          <a:xfrm>
            <a:off x="125675" y="5357750"/>
            <a:ext cx="2837400" cy="1368000"/>
          </a:xfrm>
          <a:prstGeom prst="rect">
            <a:avLst/>
          </a:prstGeom>
          <a:solidFill>
            <a:srgbClr val="333333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Shape 332">
          <a:extLst>
            <a:ext uri="{FF2B5EF4-FFF2-40B4-BE49-F238E27FC236}">
              <a16:creationId xmlns:a16="http://schemas.microsoft.com/office/drawing/2014/main" id="{43CE9F5A-79D2-73C9-F594-E9CC079E5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6">
            <a:extLst>
              <a:ext uri="{FF2B5EF4-FFF2-40B4-BE49-F238E27FC236}">
                <a16:creationId xmlns:a16="http://schemas.microsoft.com/office/drawing/2014/main" id="{05007594-8068-4AB8-608B-0674546A53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20</a:t>
            </a:fld>
            <a:endParaRPr lang="en-US" noProof="0" dirty="0"/>
          </a:p>
        </p:txBody>
      </p:sp>
      <p:sp>
        <p:nvSpPr>
          <p:cNvPr id="334" name="Google Shape;334;p46">
            <a:extLst>
              <a:ext uri="{FF2B5EF4-FFF2-40B4-BE49-F238E27FC236}">
                <a16:creationId xmlns:a16="http://schemas.microsoft.com/office/drawing/2014/main" id="{2EF8074D-38D0-36CB-828D-744A60340E1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71477" y="3162402"/>
            <a:ext cx="11361600" cy="69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practice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3000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load(“KRE_2025_ERGM.</a:t>
            </a:r>
            <a:r>
              <a:rPr lang="en-US" sz="3000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R”)</a:t>
            </a:r>
          </a:p>
        </p:txBody>
      </p:sp>
      <p:sp>
        <p:nvSpPr>
          <p:cNvPr id="335" name="Google Shape;335;p46">
            <a:extLst>
              <a:ext uri="{FF2B5EF4-FFF2-40B4-BE49-F238E27FC236}">
                <a16:creationId xmlns:a16="http://schemas.microsoft.com/office/drawing/2014/main" id="{655161C5-6297-F151-2B49-0CB9833832EC}"/>
              </a:ext>
            </a:extLst>
          </p:cNvPr>
          <p:cNvSpPr/>
          <p:nvPr/>
        </p:nvSpPr>
        <p:spPr>
          <a:xfrm>
            <a:off x="203875" y="297450"/>
            <a:ext cx="2837400" cy="1368000"/>
          </a:xfrm>
          <a:prstGeom prst="rect">
            <a:avLst/>
          </a:prstGeom>
          <a:solidFill>
            <a:srgbClr val="333333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sp>
        <p:nvSpPr>
          <p:cNvPr id="336" name="Google Shape;336;p46">
            <a:extLst>
              <a:ext uri="{FF2B5EF4-FFF2-40B4-BE49-F238E27FC236}">
                <a16:creationId xmlns:a16="http://schemas.microsoft.com/office/drawing/2014/main" id="{6469F2A4-51F8-C568-7987-DB7768DD6784}"/>
              </a:ext>
            </a:extLst>
          </p:cNvPr>
          <p:cNvSpPr/>
          <p:nvPr/>
        </p:nvSpPr>
        <p:spPr>
          <a:xfrm>
            <a:off x="125675" y="5357750"/>
            <a:ext cx="2837400" cy="1368000"/>
          </a:xfrm>
          <a:prstGeom prst="rect">
            <a:avLst/>
          </a:prstGeom>
          <a:solidFill>
            <a:srgbClr val="333333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26567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Shape 332">
          <a:extLst>
            <a:ext uri="{FF2B5EF4-FFF2-40B4-BE49-F238E27FC236}">
              <a16:creationId xmlns:a16="http://schemas.microsoft.com/office/drawing/2014/main" id="{D2622322-4DAF-F648-8F2E-AD6D9CF8D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6">
            <a:extLst>
              <a:ext uri="{FF2B5EF4-FFF2-40B4-BE49-F238E27FC236}">
                <a16:creationId xmlns:a16="http://schemas.microsoft.com/office/drawing/2014/main" id="{6E2C2ECD-5C89-FCB4-AA4C-1B709ECC21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21</a:t>
            </a:fld>
            <a:endParaRPr lang="en-US" noProof="0" dirty="0"/>
          </a:p>
        </p:txBody>
      </p:sp>
      <p:sp>
        <p:nvSpPr>
          <p:cNvPr id="335" name="Google Shape;335;p46">
            <a:extLst>
              <a:ext uri="{FF2B5EF4-FFF2-40B4-BE49-F238E27FC236}">
                <a16:creationId xmlns:a16="http://schemas.microsoft.com/office/drawing/2014/main" id="{703F6526-AA77-95C2-9A19-A435223B817C}"/>
              </a:ext>
            </a:extLst>
          </p:cNvPr>
          <p:cNvSpPr/>
          <p:nvPr/>
        </p:nvSpPr>
        <p:spPr>
          <a:xfrm>
            <a:off x="203875" y="297450"/>
            <a:ext cx="2837400" cy="1368000"/>
          </a:xfrm>
          <a:prstGeom prst="rect">
            <a:avLst/>
          </a:prstGeom>
          <a:solidFill>
            <a:srgbClr val="333333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sp>
        <p:nvSpPr>
          <p:cNvPr id="336" name="Google Shape;336;p46">
            <a:extLst>
              <a:ext uri="{FF2B5EF4-FFF2-40B4-BE49-F238E27FC236}">
                <a16:creationId xmlns:a16="http://schemas.microsoft.com/office/drawing/2014/main" id="{DB651509-005D-5E8B-42E9-0BE8AE4E104D}"/>
              </a:ext>
            </a:extLst>
          </p:cNvPr>
          <p:cNvSpPr/>
          <p:nvPr/>
        </p:nvSpPr>
        <p:spPr>
          <a:xfrm>
            <a:off x="125675" y="5357750"/>
            <a:ext cx="2837400" cy="1368000"/>
          </a:xfrm>
          <a:prstGeom prst="rect">
            <a:avLst/>
          </a:prstGeom>
          <a:solidFill>
            <a:srgbClr val="333333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1C7932-CC57-1400-9DE3-A169D7BCD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" y="747712"/>
            <a:ext cx="11934825" cy="536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7787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8"/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22</a:t>
            </a:fld>
            <a:endParaRPr lang="en-US" noProof="0" dirty="0"/>
          </a:p>
        </p:txBody>
      </p:sp>
      <p:pic>
        <p:nvPicPr>
          <p:cNvPr id="350" name="Google Shape;35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25" y="224900"/>
            <a:ext cx="7720327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Shape 332">
          <a:extLst>
            <a:ext uri="{FF2B5EF4-FFF2-40B4-BE49-F238E27FC236}">
              <a16:creationId xmlns:a16="http://schemas.microsoft.com/office/drawing/2014/main" id="{A285AD94-B096-D23E-CF3B-1F77BA8C1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6">
            <a:extLst>
              <a:ext uri="{FF2B5EF4-FFF2-40B4-BE49-F238E27FC236}">
                <a16:creationId xmlns:a16="http://schemas.microsoft.com/office/drawing/2014/main" id="{270C1873-3B3F-3A6E-DBAA-0869513828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23</a:t>
            </a:fld>
            <a:endParaRPr lang="en-US" noProof="0" dirty="0"/>
          </a:p>
        </p:txBody>
      </p:sp>
      <p:sp>
        <p:nvSpPr>
          <p:cNvPr id="334" name="Google Shape;334;p46">
            <a:extLst>
              <a:ext uri="{FF2B5EF4-FFF2-40B4-BE49-F238E27FC236}">
                <a16:creationId xmlns:a16="http://schemas.microsoft.com/office/drawing/2014/main" id="{DDE1D503-D37F-0A81-68F5-DD56776BE50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71477" y="3162402"/>
            <a:ext cx="11361600" cy="69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thx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3000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46">
            <a:extLst>
              <a:ext uri="{FF2B5EF4-FFF2-40B4-BE49-F238E27FC236}">
                <a16:creationId xmlns:a16="http://schemas.microsoft.com/office/drawing/2014/main" id="{FA02AFF6-33DF-CA0A-8834-08DA32309FC9}"/>
              </a:ext>
            </a:extLst>
          </p:cNvPr>
          <p:cNvSpPr/>
          <p:nvPr/>
        </p:nvSpPr>
        <p:spPr>
          <a:xfrm>
            <a:off x="203875" y="297450"/>
            <a:ext cx="2837400" cy="1368000"/>
          </a:xfrm>
          <a:prstGeom prst="rect">
            <a:avLst/>
          </a:prstGeom>
          <a:solidFill>
            <a:srgbClr val="333333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sp>
        <p:nvSpPr>
          <p:cNvPr id="336" name="Google Shape;336;p46">
            <a:extLst>
              <a:ext uri="{FF2B5EF4-FFF2-40B4-BE49-F238E27FC236}">
                <a16:creationId xmlns:a16="http://schemas.microsoft.com/office/drawing/2014/main" id="{3E55406C-E87D-B969-1DF1-36B876113069}"/>
              </a:ext>
            </a:extLst>
          </p:cNvPr>
          <p:cNvSpPr/>
          <p:nvPr/>
        </p:nvSpPr>
        <p:spPr>
          <a:xfrm>
            <a:off x="125675" y="5357750"/>
            <a:ext cx="2837400" cy="1368000"/>
          </a:xfrm>
          <a:prstGeom prst="rect">
            <a:avLst/>
          </a:prstGeom>
          <a:solidFill>
            <a:srgbClr val="333333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005915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1"/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24</a:t>
            </a:fld>
            <a:endParaRPr lang="en-US" noProof="0" dirty="0"/>
          </a:p>
        </p:txBody>
      </p:sp>
      <p:pic>
        <p:nvPicPr>
          <p:cNvPr id="372" name="Google Shape;37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75" y="152400"/>
            <a:ext cx="5679441" cy="6553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2266" y="3073775"/>
            <a:ext cx="5988684" cy="3406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50916" y="152400"/>
            <a:ext cx="5964362" cy="276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2"/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25</a:t>
            </a:fld>
            <a:endParaRPr lang="en-US" noProof="0" dirty="0"/>
          </a:p>
        </p:txBody>
      </p:sp>
      <p:pic>
        <p:nvPicPr>
          <p:cNvPr id="381" name="Google Shape;38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575" y="49650"/>
            <a:ext cx="9369162" cy="655319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pic>
      <p:pic>
        <p:nvPicPr>
          <p:cNvPr id="382" name="Google Shape;382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27950" y="5465950"/>
            <a:ext cx="2140600" cy="117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52"/>
          <p:cNvSpPr txBox="1"/>
          <p:nvPr/>
        </p:nvSpPr>
        <p:spPr>
          <a:xfrm>
            <a:off x="10007750" y="4971000"/>
            <a:ext cx="1849500" cy="6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from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3"/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26</a:t>
            </a:fld>
            <a:endParaRPr lang="en-US" noProof="0" dirty="0"/>
          </a:p>
        </p:txBody>
      </p:sp>
      <p:pic>
        <p:nvPicPr>
          <p:cNvPr id="390" name="Google Shape;39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7950" y="5465950"/>
            <a:ext cx="2140600" cy="117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53"/>
          <p:cNvSpPr txBox="1"/>
          <p:nvPr/>
        </p:nvSpPr>
        <p:spPr>
          <a:xfrm>
            <a:off x="10007750" y="4971000"/>
            <a:ext cx="1849500" cy="6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from</a:t>
            </a:r>
          </a:p>
        </p:txBody>
      </p:sp>
      <p:pic>
        <p:nvPicPr>
          <p:cNvPr id="392" name="Google Shape;392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525" y="195225"/>
            <a:ext cx="9267825" cy="581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4"/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27</a:t>
            </a:fld>
            <a:endParaRPr lang="en-US" noProof="0" dirty="0"/>
          </a:p>
        </p:txBody>
      </p:sp>
      <p:graphicFrame>
        <p:nvGraphicFramePr>
          <p:cNvPr id="399" name="Google Shape;399;p54"/>
          <p:cNvGraphicFramePr/>
          <p:nvPr>
            <p:extLst>
              <p:ext uri="{D42A27DB-BD31-4B8C-83A1-F6EECF244321}">
                <p14:modId xmlns:p14="http://schemas.microsoft.com/office/powerpoint/2010/main" val="1192991142"/>
              </p:ext>
            </p:extLst>
          </p:nvPr>
        </p:nvGraphicFramePr>
        <p:xfrm>
          <a:off x="292925" y="209750"/>
          <a:ext cx="11724750" cy="5836600"/>
        </p:xfrm>
        <a:graphic>
          <a:graphicData uri="http://schemas.openxmlformats.org/drawingml/2006/table">
            <a:tbl>
              <a:tblPr>
                <a:noFill/>
                <a:tableStyleId>{F3166A62-7EDA-453C-A9E9-1268A3F427FF}</a:tableStyleId>
              </a:tblPr>
              <a:tblGrid>
                <a:gridCol w="1650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7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b="1" noProof="0" dirty="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noProof="0" dirty="0">
                        <a:solidFill>
                          <a:srgbClr val="D9D9D9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noProof="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noProof="0" dirty="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b="1" noProof="0" dirty="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noProof="0" dirty="0">
                        <a:solidFill>
                          <a:srgbClr val="D9D9D9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noProof="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000" b="1" noProof="0" dirty="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noProof="0" dirty="0">
                        <a:solidFill>
                          <a:srgbClr val="D9D9D9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noProof="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 noProof="0" dirty="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HREM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noProof="0" dirty="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Relational </a:t>
                      </a:r>
                      <a:r>
                        <a:rPr lang="en-US" sz="3000" noProof="0" dirty="0" err="1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Hyperevent</a:t>
                      </a:r>
                      <a:r>
                        <a:rPr lang="en-US" sz="3000" noProof="0" dirty="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Models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sng" noProof="0" dirty="0" err="1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"/>
                        </a:rPr>
                        <a:t>eventnet</a:t>
                      </a:r>
                      <a:endParaRPr lang="en-US" sz="3000" noProof="0" dirty="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401" y="3723737"/>
            <a:ext cx="5495925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F32F85-5600-822D-E01D-4A4E5296B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169" y="209550"/>
            <a:ext cx="11191875" cy="3219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5A7E0D-D1F5-22E3-E37E-4CA7B10F25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88" y="2793159"/>
            <a:ext cx="51435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29</a:t>
            </a:fld>
            <a:endParaRPr lang="en-US" noProof="0" dirty="0"/>
          </a:p>
        </p:txBody>
      </p:sp>
      <p:pic>
        <p:nvPicPr>
          <p:cNvPr id="426" name="Google Shape;426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84236" y="115683"/>
            <a:ext cx="6277875" cy="4960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6774" y="-97228"/>
            <a:ext cx="7421536" cy="5863651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56"/>
          <p:cNvSpPr txBox="1"/>
          <p:nvPr/>
        </p:nvSpPr>
        <p:spPr>
          <a:xfrm>
            <a:off x="1405686" y="4879323"/>
            <a:ext cx="2936200" cy="17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noProof="0" dirty="0">
                <a:solidFill>
                  <a:srgbClr val="434343"/>
                </a:solidFill>
              </a:rPr>
              <a:t>E</a:t>
            </a:r>
            <a:r>
              <a:rPr lang="en-US" sz="2400" baseline="-25000" noProof="0" dirty="0">
                <a:solidFill>
                  <a:srgbClr val="434343"/>
                </a:solidFill>
              </a:rPr>
              <a:t>1 </a:t>
            </a:r>
            <a:r>
              <a:rPr lang="en-US" sz="2400" noProof="0" dirty="0">
                <a:solidFill>
                  <a:srgbClr val="434343"/>
                </a:solidFill>
              </a:rPr>
              <a:t>= {</a:t>
            </a:r>
            <a:r>
              <a:rPr lang="hu-HU" sz="2400" noProof="0" dirty="0">
                <a:solidFill>
                  <a:srgbClr val="434343"/>
                </a:solidFill>
              </a:rPr>
              <a:t>Diana</a:t>
            </a:r>
            <a:r>
              <a:rPr lang="en-US" sz="2400" noProof="0" dirty="0">
                <a:solidFill>
                  <a:srgbClr val="434343"/>
                </a:solidFill>
              </a:rPr>
              <a:t>;</a:t>
            </a:r>
            <a:r>
              <a:rPr lang="hu-HU" sz="2400" noProof="0" dirty="0">
                <a:solidFill>
                  <a:srgbClr val="434343"/>
                </a:solidFill>
              </a:rPr>
              <a:t>Eve</a:t>
            </a:r>
            <a:r>
              <a:rPr lang="en-US" sz="2400" noProof="0" dirty="0">
                <a:solidFill>
                  <a:srgbClr val="434343"/>
                </a:solidFill>
              </a:rPr>
              <a:t>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noProof="0" dirty="0">
                <a:solidFill>
                  <a:srgbClr val="434343"/>
                </a:solidFill>
              </a:rPr>
              <a:t>E</a:t>
            </a:r>
            <a:r>
              <a:rPr lang="en-US" sz="2400" baseline="-25000" noProof="0" dirty="0">
                <a:solidFill>
                  <a:srgbClr val="434343"/>
                </a:solidFill>
              </a:rPr>
              <a:t>2 </a:t>
            </a:r>
            <a:r>
              <a:rPr lang="en-US" sz="2400" noProof="0" dirty="0">
                <a:solidFill>
                  <a:srgbClr val="434343"/>
                </a:solidFill>
              </a:rPr>
              <a:t>= {</a:t>
            </a:r>
            <a:r>
              <a:rPr lang="hu-HU" sz="2400" noProof="0" dirty="0">
                <a:solidFill>
                  <a:srgbClr val="434343"/>
                </a:solidFill>
              </a:rPr>
              <a:t>Diana</a:t>
            </a:r>
            <a:r>
              <a:rPr lang="en-US" sz="2400" noProof="0" dirty="0">
                <a:solidFill>
                  <a:srgbClr val="434343"/>
                </a:solidFill>
              </a:rPr>
              <a:t>;</a:t>
            </a:r>
            <a:r>
              <a:rPr lang="hu-HU" sz="2400" dirty="0">
                <a:solidFill>
                  <a:srgbClr val="434343"/>
                </a:solidFill>
              </a:rPr>
              <a:t>Bob</a:t>
            </a:r>
            <a:r>
              <a:rPr lang="en-US" sz="2400" noProof="0" dirty="0">
                <a:solidFill>
                  <a:srgbClr val="434343"/>
                </a:solidFill>
              </a:rPr>
              <a:t>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noProof="0" dirty="0">
                <a:solidFill>
                  <a:srgbClr val="434343"/>
                </a:solidFill>
              </a:rPr>
              <a:t>E</a:t>
            </a:r>
            <a:r>
              <a:rPr lang="en-US" sz="2400" baseline="-25000" noProof="0" dirty="0">
                <a:solidFill>
                  <a:srgbClr val="434343"/>
                </a:solidFill>
              </a:rPr>
              <a:t>3 </a:t>
            </a:r>
            <a:r>
              <a:rPr lang="en-US" sz="2400" noProof="0" dirty="0">
                <a:solidFill>
                  <a:srgbClr val="434343"/>
                </a:solidFill>
              </a:rPr>
              <a:t>= {</a:t>
            </a:r>
            <a:r>
              <a:rPr lang="hu-HU" sz="2400" noProof="0" dirty="0">
                <a:solidFill>
                  <a:srgbClr val="434343"/>
                </a:solidFill>
              </a:rPr>
              <a:t>Diana</a:t>
            </a:r>
            <a:r>
              <a:rPr lang="en-US" sz="2400" noProof="0" dirty="0">
                <a:solidFill>
                  <a:srgbClr val="434343"/>
                </a:solidFill>
              </a:rPr>
              <a:t>;</a:t>
            </a:r>
            <a:r>
              <a:rPr lang="hu-HU" sz="2400" dirty="0">
                <a:solidFill>
                  <a:srgbClr val="434343"/>
                </a:solidFill>
              </a:rPr>
              <a:t>Frank</a:t>
            </a:r>
            <a:r>
              <a:rPr lang="en-US" sz="2400" noProof="0" dirty="0">
                <a:solidFill>
                  <a:srgbClr val="434343"/>
                </a:solidFill>
              </a:rPr>
              <a:t>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noProof="0" dirty="0">
                <a:solidFill>
                  <a:srgbClr val="434343"/>
                </a:solidFill>
              </a:rPr>
              <a:t>…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>
                <a:solidFill>
                  <a:srgbClr val="434343"/>
                </a:solidFill>
              </a:rPr>
              <a:t>E</a:t>
            </a:r>
            <a:r>
              <a:rPr lang="en-US" sz="2400" baseline="-25000" dirty="0">
                <a:solidFill>
                  <a:srgbClr val="434343"/>
                </a:solidFill>
              </a:rPr>
              <a:t>15 </a:t>
            </a:r>
            <a:r>
              <a:rPr lang="en-US" sz="2400" noProof="0" dirty="0">
                <a:solidFill>
                  <a:srgbClr val="434343"/>
                </a:solidFill>
              </a:rPr>
              <a:t>= {Alice;</a:t>
            </a:r>
            <a:r>
              <a:rPr lang="en-US" sz="2400" dirty="0">
                <a:solidFill>
                  <a:srgbClr val="434343"/>
                </a:solidFill>
              </a:rPr>
              <a:t>Charlie</a:t>
            </a:r>
            <a:r>
              <a:rPr lang="en-US" sz="2400" noProof="0" dirty="0">
                <a:solidFill>
                  <a:srgbClr val="434343"/>
                </a:solidFill>
              </a:rPr>
              <a:t>}</a:t>
            </a:r>
            <a:endParaRPr lang="en-US" sz="2400" baseline="-25000" noProof="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noProof="0" dirty="0">
              <a:solidFill>
                <a:srgbClr val="434343"/>
              </a:solidFill>
            </a:endParaRPr>
          </a:p>
        </p:txBody>
      </p:sp>
      <p:sp>
        <p:nvSpPr>
          <p:cNvPr id="3" name="Google Shape;410;p56">
            <a:extLst>
              <a:ext uri="{FF2B5EF4-FFF2-40B4-BE49-F238E27FC236}">
                <a16:creationId xmlns:a16="http://schemas.microsoft.com/office/drawing/2014/main" id="{0F655CBA-4E4C-A265-2624-8399FD68F0E7}"/>
              </a:ext>
            </a:extLst>
          </p:cNvPr>
          <p:cNvSpPr txBox="1"/>
          <p:nvPr/>
        </p:nvSpPr>
        <p:spPr>
          <a:xfrm>
            <a:off x="5793639" y="5405753"/>
            <a:ext cx="6104074" cy="706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noProof="0" dirty="0">
                <a:solidFill>
                  <a:srgbClr val="434343"/>
                </a:solidFill>
              </a:rPr>
              <a:t>E</a:t>
            </a:r>
            <a:r>
              <a:rPr lang="en-US" sz="2400" baseline="-25000" noProof="0" dirty="0">
                <a:solidFill>
                  <a:srgbClr val="434343"/>
                </a:solidFill>
              </a:rPr>
              <a:t>1 </a:t>
            </a:r>
            <a:r>
              <a:rPr lang="en-US" sz="2400" noProof="0" dirty="0">
                <a:solidFill>
                  <a:srgbClr val="434343"/>
                </a:solidFill>
              </a:rPr>
              <a:t>= {</a:t>
            </a:r>
            <a:r>
              <a:rPr lang="hu-HU" sz="2400" noProof="0" dirty="0">
                <a:solidFill>
                  <a:srgbClr val="434343"/>
                </a:solidFill>
              </a:rPr>
              <a:t>Diana</a:t>
            </a:r>
            <a:r>
              <a:rPr lang="en-US" sz="2400" dirty="0">
                <a:solidFill>
                  <a:srgbClr val="434343"/>
                </a:solidFill>
              </a:rPr>
              <a:t>; </a:t>
            </a:r>
            <a:r>
              <a:rPr lang="hu-HU" sz="2400" noProof="0" dirty="0">
                <a:solidFill>
                  <a:srgbClr val="434343"/>
                </a:solidFill>
              </a:rPr>
              <a:t>Eve</a:t>
            </a:r>
            <a:r>
              <a:rPr lang="en-US" sz="2400" dirty="0">
                <a:solidFill>
                  <a:srgbClr val="434343"/>
                </a:solidFill>
              </a:rPr>
              <a:t>;</a:t>
            </a:r>
            <a:r>
              <a:rPr lang="hu-HU" sz="2400" noProof="0" dirty="0">
                <a:solidFill>
                  <a:srgbClr val="434343"/>
                </a:solidFill>
              </a:rPr>
              <a:t> Bob</a:t>
            </a:r>
            <a:r>
              <a:rPr lang="en-US" sz="2400" dirty="0">
                <a:solidFill>
                  <a:srgbClr val="434343"/>
                </a:solidFill>
              </a:rPr>
              <a:t>;</a:t>
            </a:r>
            <a:r>
              <a:rPr lang="hu-HU" sz="2400" noProof="0" dirty="0">
                <a:solidFill>
                  <a:srgbClr val="434343"/>
                </a:solidFill>
              </a:rPr>
              <a:t> Frank</a:t>
            </a:r>
            <a:r>
              <a:rPr lang="en-US" sz="2400" noProof="0" dirty="0">
                <a:solidFill>
                  <a:srgbClr val="434343"/>
                </a:solidFill>
              </a:rPr>
              <a:t>;Charlie; Alice</a:t>
            </a:r>
            <a:r>
              <a:rPr lang="en-US" sz="2400" dirty="0">
                <a:solidFill>
                  <a:srgbClr val="434343"/>
                </a:solidFill>
              </a:rPr>
              <a:t>}</a:t>
            </a:r>
            <a:endParaRPr lang="en-US" sz="2400" noProof="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noProof="0" dirty="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5"/>
          <p:cNvSpPr txBox="1">
            <a:spLocks noGrp="1"/>
          </p:cNvSpPr>
          <p:nvPr>
            <p:ph type="subTitle" idx="1"/>
          </p:nvPr>
        </p:nvSpPr>
        <p:spPr>
          <a:xfrm>
            <a:off x="415650" y="2251427"/>
            <a:ext cx="11360700" cy="243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37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generalization of a graph </a:t>
            </a:r>
            <a:br>
              <a:rPr lang="en-US" sz="37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37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7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in which</a:t>
            </a:r>
            <a:br>
              <a:rPr lang="en-US" sz="37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7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37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7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an edge can join </a:t>
            </a:r>
            <a:r>
              <a:rPr lang="en-US" sz="3700" i="1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any</a:t>
            </a:r>
            <a:r>
              <a:rPr lang="en-US" sz="3700" noProof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number of vertices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9"/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31</a:t>
            </a:fld>
            <a:endParaRPr lang="en-US" noProof="0" dirty="0"/>
          </a:p>
        </p:txBody>
      </p:sp>
      <p:pic>
        <p:nvPicPr>
          <p:cNvPr id="434" name="Google Shape;43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275" y="66775"/>
            <a:ext cx="8362112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1"/>
          <p:cNvSpPr txBox="1">
            <a:spLocks noGrp="1"/>
          </p:cNvSpPr>
          <p:nvPr>
            <p:ph type="sldNum" idx="12"/>
          </p:nvPr>
        </p:nvSpPr>
        <p:spPr>
          <a:xfrm>
            <a:off x="414000" y="6228000"/>
            <a:ext cx="2520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32</a:t>
            </a:fld>
            <a:endParaRPr lang="en-US" noProof="0" dirty="0"/>
          </a:p>
        </p:txBody>
      </p:sp>
      <p:pic>
        <p:nvPicPr>
          <p:cNvPr id="448" name="Google Shape;44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75" y="169525"/>
            <a:ext cx="7823250" cy="653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esentation_MU_EN">
  <a:themeElements>
    <a:clrScheme name="MUNI MED">
      <a:dk1>
        <a:srgbClr val="000000"/>
      </a:dk1>
      <a:lt1>
        <a:srgbClr val="FFFFFF"/>
      </a:lt1>
      <a:dk2>
        <a:srgbClr val="0000DC"/>
      </a:dk2>
      <a:lt2>
        <a:srgbClr val="FFC000"/>
      </a:lt2>
      <a:accent1>
        <a:srgbClr val="0000DC"/>
      </a:accent1>
      <a:accent2>
        <a:srgbClr val="F01928"/>
      </a:accent2>
      <a:accent3>
        <a:srgbClr val="00AF3F"/>
      </a:accent3>
      <a:accent4>
        <a:srgbClr val="4BC8FF"/>
      </a:accent4>
      <a:accent5>
        <a:srgbClr val="FF7300"/>
      </a:accent5>
      <a:accent6>
        <a:srgbClr val="B9006E"/>
      </a:accent6>
      <a:hlink>
        <a:srgbClr val="0000DC"/>
      </a:hlink>
      <a:folHlink>
        <a:srgbClr val="5AC8A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ystému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634</Words>
  <Application>Microsoft Office PowerPoint</Application>
  <PresentationFormat>Widescreen</PresentationFormat>
  <Paragraphs>180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Noto Sans Symbols</vt:lpstr>
      <vt:lpstr>Presentation_MU_EN</vt:lpstr>
      <vt:lpstr>Social Network Analysis – “Second wave” (After the 90s)   Zoltán Brys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Zoltán Brys</dc:creator>
  <cp:lastModifiedBy>Zoltán Brys</cp:lastModifiedBy>
  <cp:revision>11</cp:revision>
  <dcterms:modified xsi:type="dcterms:W3CDTF">2025-05-02T13:50:43Z</dcterms:modified>
</cp:coreProperties>
</file>